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</p:sldIdLst>
  <p:sldSz cy="6858000" cx="12192000"/>
  <p:notesSz cx="6858000" cy="9144000"/>
  <p:embeddedFontLst>
    <p:embeddedFont>
      <p:font typeface="Playfair Display"/>
      <p:regular r:id="rId43"/>
      <p:bold r:id="rId44"/>
      <p:italic r:id="rId45"/>
      <p:boldItalic r:id="rId46"/>
    </p:embeddedFont>
    <p:embeddedFont>
      <p:font typeface="Montserrat"/>
      <p:regular r:id="rId47"/>
      <p:bold r:id="rId48"/>
      <p:italic r:id="rId49"/>
      <p:boldItalic r:id="rId5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2C50AD4-4F8E-4888-9A1D-92DDF24FBFF8}">
  <a:tblStyle styleId="{D2C50AD4-4F8E-4888-9A1D-92DDF24FBFF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font" Target="fonts/PlayfairDisplay-bold.fntdata"/><Relationship Id="rId43" Type="http://schemas.openxmlformats.org/officeDocument/2006/relationships/font" Target="fonts/PlayfairDisplay-regular.fntdata"/><Relationship Id="rId46" Type="http://schemas.openxmlformats.org/officeDocument/2006/relationships/font" Target="fonts/PlayfairDisplay-boldItalic.fntdata"/><Relationship Id="rId45" Type="http://schemas.openxmlformats.org/officeDocument/2006/relationships/font" Target="fonts/PlayfairDisplay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font" Target="fonts/Montserrat-bold.fntdata"/><Relationship Id="rId47" Type="http://schemas.openxmlformats.org/officeDocument/2006/relationships/font" Target="fonts/Montserrat-regular.fntdata"/><Relationship Id="rId49" Type="http://schemas.openxmlformats.org/officeDocument/2006/relationships/font" Target="fonts/Montserrat-italic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0" Type="http://schemas.openxmlformats.org/officeDocument/2006/relationships/font" Target="fonts/Montserrat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0" name="Google Shape;14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6" name="Google Shape;166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7" name="Google Shape;177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8" name="Google Shape;188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6" name="Google Shape;206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8" name="Google Shape;218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0" name="Google Shape;230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2" name="Google Shape;24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0" name="Google Shape;250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9" name="Google Shape;269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7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9" name="Google Shape;309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8" name="Shape 3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9" name="Google Shape;319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0" name="Google Shape;320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9" name="Shape 3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0" name="Google Shape;330;p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1" name="Google Shape;331;p2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0" name="Shape 3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1" name="Google Shape;341;p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2" name="Google Shape;342;p2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3" name="Google Shape;353;p2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2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4" name="Google Shape;364;p2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2" name="Google Shape;372;p2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2" name="Google Shape;382;p2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1" name="Google Shape;411;p2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19" name="Google Shape;419;p3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30" name="Google Shape;430;p3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9" name="Shape 4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" name="Google Shape;440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1" name="Google Shape;441;p3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49" name="Shape 4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" name="Google Shape;450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1" name="Google Shape;451;p3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9" name="Google Shape;459;p3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7" name="Shape 4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8" name="Google Shape;498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9" name="Google Shape;499;p3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37" name="Shape 5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8" name="Google Shape;538;p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9" name="Google Shape;539;p3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4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14.png"/><Relationship Id="rId9" Type="http://schemas.openxmlformats.org/officeDocument/2006/relationships/image" Target="../media/image13.png"/><Relationship Id="rId5" Type="http://schemas.openxmlformats.org/officeDocument/2006/relationships/image" Target="../media/image23.png"/><Relationship Id="rId6" Type="http://schemas.openxmlformats.org/officeDocument/2006/relationships/image" Target="../media/image5.png"/><Relationship Id="rId7" Type="http://schemas.openxmlformats.org/officeDocument/2006/relationships/image" Target="../media/image7.png"/><Relationship Id="rId8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4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6.png"/><Relationship Id="rId6" Type="http://schemas.openxmlformats.org/officeDocument/2006/relationships/image" Target="../media/image18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Relationship Id="rId4" Type="http://schemas.openxmlformats.org/officeDocument/2006/relationships/image" Target="../media/image19.png"/><Relationship Id="rId5" Type="http://schemas.openxmlformats.org/officeDocument/2006/relationships/image" Target="../media/image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8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9.png"/><Relationship Id="rId5" Type="http://schemas.openxmlformats.org/officeDocument/2006/relationships/image" Target="../media/image20.png"/><Relationship Id="rId6" Type="http://schemas.openxmlformats.org/officeDocument/2006/relationships/image" Target="../media/image1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4.png"/><Relationship Id="rId4" Type="http://schemas.openxmlformats.org/officeDocument/2006/relationships/image" Target="../media/image19.png"/><Relationship Id="rId5" Type="http://schemas.openxmlformats.org/officeDocument/2006/relationships/image" Target="../media/image1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12.png"/><Relationship Id="rId6" Type="http://schemas.openxmlformats.org/officeDocument/2006/relationships/image" Target="../media/image2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6.png"/><Relationship Id="rId4" Type="http://schemas.openxmlformats.org/officeDocument/2006/relationships/image" Target="../media/image19.png"/><Relationship Id="rId5" Type="http://schemas.openxmlformats.org/officeDocument/2006/relationships/image" Target="../media/image10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17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4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30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2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4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3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Relationship Id="rId4" Type="http://schemas.openxmlformats.org/officeDocument/2006/relationships/image" Target="../media/image19.png"/><Relationship Id="rId5" Type="http://schemas.openxmlformats.org/officeDocument/2006/relationships/image" Target="../media/image28.png"/><Relationship Id="rId6" Type="http://schemas.openxmlformats.org/officeDocument/2006/relationships/image" Target="../media/image2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7.png"/><Relationship Id="rId4" Type="http://schemas.openxmlformats.org/officeDocument/2006/relationships/image" Target="../media/image3.png"/><Relationship Id="rId5" Type="http://schemas.openxmlformats.org/officeDocument/2006/relationships/image" Target="../media/image29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4.png"/><Relationship Id="rId4" Type="http://schemas.openxmlformats.org/officeDocument/2006/relationships/image" Target="../media/image19.png"/><Relationship Id="rId5" Type="http://schemas.openxmlformats.org/officeDocument/2006/relationships/image" Target="../media/image48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4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33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4.png"/><Relationship Id="rId4" Type="http://schemas.openxmlformats.org/officeDocument/2006/relationships/image" Target="../media/image19.png"/><Relationship Id="rId5" Type="http://schemas.openxmlformats.org/officeDocument/2006/relationships/image" Target="../media/image5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4.png"/><Relationship Id="rId4" Type="http://schemas.openxmlformats.org/officeDocument/2006/relationships/image" Target="../media/image3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43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37.png"/><Relationship Id="rId4" Type="http://schemas.openxmlformats.org/officeDocument/2006/relationships/image" Target="../media/image19.png"/><Relationship Id="rId5" Type="http://schemas.openxmlformats.org/officeDocument/2006/relationships/image" Target="../media/image35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4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36.png"/><Relationship Id="rId4" Type="http://schemas.openxmlformats.org/officeDocument/2006/relationships/image" Target="../media/image3.png"/><Relationship Id="rId5" Type="http://schemas.openxmlformats.org/officeDocument/2006/relationships/image" Target="../media/image41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4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4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4.png"/><Relationship Id="rId4" Type="http://schemas.openxmlformats.org/officeDocument/2006/relationships/image" Target="../media/image3.png"/><Relationship Id="rId5" Type="http://schemas.openxmlformats.org/officeDocument/2006/relationships/image" Target="../media/image38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3" Type="http://schemas.openxmlformats.org/officeDocument/2006/relationships/image" Target="../media/image4.png"/><Relationship Id="rId4" Type="http://schemas.openxmlformats.org/officeDocument/2006/relationships/image" Target="../media/image19.png"/><Relationship Id="rId5" Type="http://schemas.openxmlformats.org/officeDocument/2006/relationships/image" Target="../media/image39.png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4.png"/><Relationship Id="rId4" Type="http://schemas.openxmlformats.org/officeDocument/2006/relationships/image" Target="../media/image45.png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3" Type="http://schemas.openxmlformats.org/officeDocument/2006/relationships/image" Target="../media/image4.png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3" Type="http://schemas.openxmlformats.org/officeDocument/2006/relationships/image" Target="../media/image4.png"/><Relationship Id="rId4" Type="http://schemas.openxmlformats.org/officeDocument/2006/relationships/image" Target="../media/image32.png"/><Relationship Id="rId9" Type="http://schemas.openxmlformats.org/officeDocument/2006/relationships/image" Target="../media/image51.png"/><Relationship Id="rId5" Type="http://schemas.openxmlformats.org/officeDocument/2006/relationships/image" Target="../media/image55.png"/><Relationship Id="rId6" Type="http://schemas.openxmlformats.org/officeDocument/2006/relationships/image" Target="../media/image50.png"/><Relationship Id="rId7" Type="http://schemas.openxmlformats.org/officeDocument/2006/relationships/image" Target="../media/image49.png"/><Relationship Id="rId8" Type="http://schemas.openxmlformats.org/officeDocument/2006/relationships/image" Target="../media/image42.png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3" Type="http://schemas.openxmlformats.org/officeDocument/2006/relationships/image" Target="../media/image4.png"/><Relationship Id="rId4" Type="http://schemas.openxmlformats.org/officeDocument/2006/relationships/image" Target="../media/image40.png"/><Relationship Id="rId5" Type="http://schemas.openxmlformats.org/officeDocument/2006/relationships/image" Target="../media/image47.png"/><Relationship Id="rId6" Type="http://schemas.openxmlformats.org/officeDocument/2006/relationships/image" Target="../media/image53.png"/><Relationship Id="rId7" Type="http://schemas.openxmlformats.org/officeDocument/2006/relationships/image" Target="../media/image44.png"/><Relationship Id="rId8" Type="http://schemas.openxmlformats.org/officeDocument/2006/relationships/image" Target="../media/image32.png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3" Type="http://schemas.openxmlformats.org/officeDocument/2006/relationships/image" Target="../media/image4.png"/><Relationship Id="rId4" Type="http://schemas.openxmlformats.org/officeDocument/2006/relationships/image" Target="../media/image56.png"/><Relationship Id="rId5" Type="http://schemas.openxmlformats.org/officeDocument/2006/relationships/image" Target="../media/image46.png"/><Relationship Id="rId6" Type="http://schemas.openxmlformats.org/officeDocument/2006/relationships/image" Target="../media/image58.png"/><Relationship Id="rId7" Type="http://schemas.openxmlformats.org/officeDocument/2006/relationships/image" Target="../media/image52.png"/><Relationship Id="rId8" Type="http://schemas.openxmlformats.org/officeDocument/2006/relationships/image" Target="../media/image5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295275" y="1895475"/>
            <a:ext cx="116014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64FFD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Sierpinski e Cantor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571500" y="2924175"/>
            <a:ext cx="11049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240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A Jornada Fractal: A Geometria do Infinito Revisitada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571500" y="4333875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CCD6F6"/>
                </a:solidFill>
                <a:latin typeface="Montserrat"/>
                <a:ea typeface="Montserrat"/>
                <a:cs typeface="Montserrat"/>
                <a:sym typeface="Montserrat"/>
              </a:rPr>
              <a:t>Filipe Lorenzato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571500" y="4648200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PUC Minas - Lourdes | 23 de Março de 2026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3" name="Google Shape;93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419350"/>
            <a:ext cx="3492549" cy="2981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349799" y="2419350"/>
            <a:ext cx="3492549" cy="2981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128099" y="2419350"/>
            <a:ext cx="3492549" cy="2981325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952500" y="3562350"/>
            <a:ext cx="286707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CCD6F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I. O Universo</a:t>
            </a:r>
            <a:endParaRPr/>
          </a:p>
        </p:txBody>
      </p:sp>
      <p:sp>
        <p:nvSpPr>
          <p:cNvPr id="98" name="Google Shape;98;p14"/>
          <p:cNvSpPr txBox="1"/>
          <p:nvPr/>
        </p:nvSpPr>
        <p:spPr>
          <a:xfrm>
            <a:off x="952500" y="4038600"/>
            <a:ext cx="2730549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Fundamentos, Auto-similaridade e o Triângulo de Sierpinski.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4730799" y="3562350"/>
            <a:ext cx="286707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CCD6F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II. Ordem e Caos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4730799" y="4038600"/>
            <a:ext cx="2730549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O Jogo do Caos e o Teorema do Floco de Neve de Koch.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8509099" y="3562350"/>
            <a:ext cx="2867077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CCD6F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III. O Legado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8509099" y="4038600"/>
            <a:ext cx="2730549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Georg Cantor, Base Ternária e o Infinito Matemático.</a:t>
            </a:r>
            <a:endParaRPr/>
          </a:p>
        </p:txBody>
      </p:sp>
      <p:pic>
        <p:nvPicPr>
          <p:cNvPr descr="image.png" id="103" name="Google Shape;103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52500" y="2847975"/>
            <a:ext cx="42862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4" name="Google Shape;104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4730799" y="2847975"/>
            <a:ext cx="533400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5" name="Google Shape;105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8509099" y="2847975"/>
            <a:ext cx="533400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809625" y="571500"/>
            <a:ext cx="11351418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E6F1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ROTEIRO DA APRESENTAÇÃO</a:t>
            </a:r>
            <a:endParaRPr/>
          </a:p>
        </p:txBody>
      </p:sp>
      <p:sp>
        <p:nvSpPr>
          <p:cNvPr id="107" name="Google Shape;107;p14"/>
          <p:cNvSpPr/>
          <p:nvPr/>
        </p:nvSpPr>
        <p:spPr>
          <a:xfrm>
            <a:off x="571500" y="571500"/>
            <a:ext cx="57150" cy="5334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2" name="Google Shape;112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15"/>
          <p:cNvSpPr/>
          <p:nvPr/>
        </p:nvSpPr>
        <p:spPr>
          <a:xfrm>
            <a:off x="5619750" y="2700337"/>
            <a:ext cx="952500" cy="381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15"/>
          <p:cNvSpPr txBox="1"/>
          <p:nvPr/>
        </p:nvSpPr>
        <p:spPr>
          <a:xfrm>
            <a:off x="295275" y="3024187"/>
            <a:ext cx="11601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64FFD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I. O Universo Fractal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571500" y="4129087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Explorando padrões que se repetem infinitamente no macro e no micro.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20" name="Google Shape;120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1" name="Google Shape;121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09762"/>
            <a:ext cx="5238750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2" name="Google Shape;122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043237"/>
            <a:ext cx="5238750" cy="1114425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6"/>
          <p:cNvSpPr txBox="1"/>
          <p:nvPr/>
        </p:nvSpPr>
        <p:spPr>
          <a:xfrm>
            <a:off x="571500" y="1909762"/>
            <a:ext cx="523875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Um fractal é um objeto geométrico cuja estrutura básica, fragmentada ou irregular, se repete em diferentes escalas.</a:t>
            </a:r>
            <a:endParaRPr/>
          </a:p>
        </p:txBody>
      </p:sp>
      <p:pic>
        <p:nvPicPr>
          <p:cNvPr descr="image.png" id="124" name="Google Shape;124;p1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91275" y="1919287"/>
            <a:ext cx="18954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16"/>
          <p:cNvSpPr txBox="1"/>
          <p:nvPr/>
        </p:nvSpPr>
        <p:spPr>
          <a:xfrm>
            <a:off x="809625" y="571500"/>
            <a:ext cx="11351418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E6F1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AUTO-SIMILARIDADE E ESCALA</a:t>
            </a:r>
            <a:endParaRPr/>
          </a:p>
        </p:txBody>
      </p:sp>
      <p:sp>
        <p:nvSpPr>
          <p:cNvPr id="126" name="Google Shape;126;p16"/>
          <p:cNvSpPr/>
          <p:nvPr/>
        </p:nvSpPr>
        <p:spPr>
          <a:xfrm>
            <a:off x="571500" y="571500"/>
            <a:ext cx="57150" cy="5334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1" name="Google Shape;131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2" name="Google Shape;132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09762"/>
            <a:ext cx="5238750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3" name="Google Shape;133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1919287"/>
            <a:ext cx="14668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17"/>
          <p:cNvSpPr txBox="1"/>
          <p:nvPr/>
        </p:nvSpPr>
        <p:spPr>
          <a:xfrm>
            <a:off x="6381750" y="1909762"/>
            <a:ext cx="523875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Apresentado em 1915 por </a:t>
            </a:r>
            <a:r>
              <a:rPr b="1" i="0" lang="en-US" sz="1650" u="none" cap="none" strike="noStrike">
                <a:solidFill>
                  <a:srgbClr val="CCD6F6"/>
                </a:solidFill>
                <a:latin typeface="Montserrat"/>
                <a:ea typeface="Montserrat"/>
                <a:cs typeface="Montserrat"/>
                <a:sym typeface="Montserrat"/>
              </a:rPr>
              <a:t>Wacław Sierpiński</a:t>
            </a:r>
            <a:r>
              <a:rPr b="0" i="0" lang="en-US" sz="165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, este fractal é um dos exemplos mais elegantes de recursividade geométrica.</a:t>
            </a:r>
            <a:endParaRPr/>
          </a:p>
        </p:txBody>
      </p:sp>
      <p:sp>
        <p:nvSpPr>
          <p:cNvPr id="135" name="Google Shape;135;p17"/>
          <p:cNvSpPr txBox="1"/>
          <p:nvPr/>
        </p:nvSpPr>
        <p:spPr>
          <a:xfrm>
            <a:off x="6381750" y="3043237"/>
            <a:ext cx="5238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Ele revela a harmonia entre o macro e o micro através de regras simples de divisão.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809625" y="571500"/>
            <a:ext cx="11351418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E6F1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 TRIÂNGULO DE SIERPINSKI</a:t>
            </a:r>
            <a:endParaRPr/>
          </a:p>
        </p:txBody>
      </p:sp>
      <p:sp>
        <p:nvSpPr>
          <p:cNvPr id="137" name="Google Shape;137;p17"/>
          <p:cNvSpPr/>
          <p:nvPr/>
        </p:nvSpPr>
        <p:spPr>
          <a:xfrm>
            <a:off x="571500" y="571500"/>
            <a:ext cx="57150" cy="5334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2" name="Google Shape;14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3" name="Google Shape;143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09762"/>
            <a:ext cx="52387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4" name="Google Shape;144;p18"/>
          <p:cNvSpPr txBox="1"/>
          <p:nvPr/>
        </p:nvSpPr>
        <p:spPr>
          <a:xfrm>
            <a:off x="571500" y="1909762"/>
            <a:ext cx="5238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Começamos com um </a:t>
            </a:r>
            <a:r>
              <a:rPr b="1" i="0" lang="en-US" sz="1650" u="none" cap="none" strike="noStrike">
                <a:solidFill>
                  <a:srgbClr val="CCD6F6"/>
                </a:solidFill>
                <a:latin typeface="Montserrat"/>
                <a:ea typeface="Montserrat"/>
                <a:cs typeface="Montserrat"/>
                <a:sym typeface="Montserrat"/>
              </a:rPr>
              <a:t>Triângulo Equilátero</a:t>
            </a:r>
            <a:r>
              <a:rPr b="0" i="0" lang="en-US" sz="165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 sólido (Iteração 0).</a:t>
            </a:r>
            <a:endParaRPr/>
          </a:p>
        </p:txBody>
      </p:sp>
      <p:sp>
        <p:nvSpPr>
          <p:cNvPr id="145" name="Google Shape;145;p18"/>
          <p:cNvSpPr txBox="1"/>
          <p:nvPr/>
        </p:nvSpPr>
        <p:spPr>
          <a:xfrm>
            <a:off x="571500" y="2728912"/>
            <a:ext cx="523875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Dividimos este triângulo em quatro triângulos menores conectando os pontos médios de cada lado.</a:t>
            </a:r>
            <a:endParaRPr/>
          </a:p>
        </p:txBody>
      </p:sp>
      <p:pic>
        <p:nvPicPr>
          <p:cNvPr descr="image.png" id="146" name="Google Shape;14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919287"/>
            <a:ext cx="21621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18"/>
          <p:cNvSpPr txBox="1"/>
          <p:nvPr/>
        </p:nvSpPr>
        <p:spPr>
          <a:xfrm>
            <a:off x="809625" y="571500"/>
            <a:ext cx="11351418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E6F1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CONSTRUÇÃO: PASSO 1</a:t>
            </a:r>
            <a:endParaRPr/>
          </a:p>
        </p:txBody>
      </p:sp>
      <p:sp>
        <p:nvSpPr>
          <p:cNvPr id="148" name="Google Shape;148;p18"/>
          <p:cNvSpPr/>
          <p:nvPr/>
        </p:nvSpPr>
        <p:spPr>
          <a:xfrm>
            <a:off x="571500" y="571500"/>
            <a:ext cx="57150" cy="5334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3" name="Google Shape;153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4" name="Google Shape;154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576512"/>
            <a:ext cx="5381625" cy="2667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5" name="Google Shape;155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38875" y="2576512"/>
            <a:ext cx="5381625" cy="2667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6" name="Google Shape;156;p19"/>
          <p:cNvSpPr txBox="1"/>
          <p:nvPr/>
        </p:nvSpPr>
        <p:spPr>
          <a:xfrm>
            <a:off x="952500" y="3719512"/>
            <a:ext cx="485060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CCD6F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 Vácuo</a:t>
            </a:r>
            <a:endParaRPr/>
          </a:p>
        </p:txBody>
      </p:sp>
      <p:sp>
        <p:nvSpPr>
          <p:cNvPr id="157" name="Google Shape;157;p19"/>
          <p:cNvSpPr txBox="1"/>
          <p:nvPr/>
        </p:nvSpPr>
        <p:spPr>
          <a:xfrm>
            <a:off x="952500" y="4195762"/>
            <a:ext cx="46196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Removemos o triângulo central voltado para baixo.</a:t>
            </a:r>
            <a:endParaRPr/>
          </a:p>
        </p:txBody>
      </p:sp>
      <p:sp>
        <p:nvSpPr>
          <p:cNvPr id="158" name="Google Shape;158;p19"/>
          <p:cNvSpPr txBox="1"/>
          <p:nvPr/>
        </p:nvSpPr>
        <p:spPr>
          <a:xfrm>
            <a:off x="6619875" y="3719512"/>
            <a:ext cx="4850606" cy="3333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950" u="none" cap="none" strike="noStrike">
                <a:solidFill>
                  <a:srgbClr val="CCD6F6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Restante</a:t>
            </a:r>
            <a:endParaRPr/>
          </a:p>
        </p:txBody>
      </p:sp>
      <p:sp>
        <p:nvSpPr>
          <p:cNvPr id="159" name="Google Shape;159;p19"/>
          <p:cNvSpPr txBox="1"/>
          <p:nvPr/>
        </p:nvSpPr>
        <p:spPr>
          <a:xfrm>
            <a:off x="6619875" y="4195762"/>
            <a:ext cx="4619625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Restam três triângulos sólidos com metade do lado original.</a:t>
            </a:r>
            <a:endParaRPr/>
          </a:p>
        </p:txBody>
      </p:sp>
      <p:pic>
        <p:nvPicPr>
          <p:cNvPr descr="image.png" id="160" name="Google Shape;160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952500" y="3005137"/>
            <a:ext cx="485775" cy="4286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1" name="Google Shape;161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619875" y="3005137"/>
            <a:ext cx="428625" cy="428625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p19"/>
          <p:cNvSpPr txBox="1"/>
          <p:nvPr/>
        </p:nvSpPr>
        <p:spPr>
          <a:xfrm>
            <a:off x="809625" y="571500"/>
            <a:ext cx="11351418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E6F1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CONSTRUÇÃO: REMOÇÃO CENTRAL</a:t>
            </a:r>
            <a:endParaRPr/>
          </a:p>
        </p:txBody>
      </p:sp>
      <p:sp>
        <p:nvSpPr>
          <p:cNvPr id="163" name="Google Shape;163;p19"/>
          <p:cNvSpPr/>
          <p:nvPr/>
        </p:nvSpPr>
        <p:spPr>
          <a:xfrm>
            <a:off x="571500" y="571500"/>
            <a:ext cx="57150" cy="5334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8" name="Google Shape;16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9" name="Google Shape;169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09762"/>
            <a:ext cx="5238750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70" name="Google Shape;170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1919287"/>
            <a:ext cx="14668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p20"/>
          <p:cNvSpPr txBox="1"/>
          <p:nvPr/>
        </p:nvSpPr>
        <p:spPr>
          <a:xfrm>
            <a:off x="6381750" y="1909762"/>
            <a:ext cx="523875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O processo é repetido para cada um dos triângulos remanescentes, e assim por diante, </a:t>
            </a:r>
            <a:r>
              <a:rPr b="1" i="0" lang="en-US" sz="1650" u="none" cap="none" strike="noStrike">
                <a:solidFill>
                  <a:srgbClr val="CCD6F6"/>
                </a:solidFill>
                <a:latin typeface="Montserrat"/>
                <a:ea typeface="Montserrat"/>
                <a:cs typeface="Montserrat"/>
                <a:sym typeface="Montserrat"/>
              </a:rPr>
              <a:t>ad infinitum</a:t>
            </a:r>
            <a:r>
              <a:rPr b="0" i="0" lang="en-US" sz="165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/>
          </a:p>
        </p:txBody>
      </p:sp>
      <p:sp>
        <p:nvSpPr>
          <p:cNvPr id="172" name="Google Shape;172;p20"/>
          <p:cNvSpPr txBox="1"/>
          <p:nvPr/>
        </p:nvSpPr>
        <p:spPr>
          <a:xfrm>
            <a:off x="6381750" y="3043237"/>
            <a:ext cx="5238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A complexidade visual surge de um algoritmo extremamente simples e repetitivo.</a:t>
            </a:r>
            <a:endParaRPr/>
          </a:p>
        </p:txBody>
      </p:sp>
      <p:sp>
        <p:nvSpPr>
          <p:cNvPr id="173" name="Google Shape;173;p20"/>
          <p:cNvSpPr txBox="1"/>
          <p:nvPr/>
        </p:nvSpPr>
        <p:spPr>
          <a:xfrm>
            <a:off x="809625" y="571500"/>
            <a:ext cx="11351418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E6F1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CONSTRUÇÃO: RECURSÃO INFINITA</a:t>
            </a:r>
            <a:endParaRPr/>
          </a:p>
        </p:txBody>
      </p:sp>
      <p:sp>
        <p:nvSpPr>
          <p:cNvPr id="174" name="Google Shape;174;p20"/>
          <p:cNvSpPr/>
          <p:nvPr/>
        </p:nvSpPr>
        <p:spPr>
          <a:xfrm>
            <a:off x="571500" y="571500"/>
            <a:ext cx="57150" cy="5334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79" name="Google Shape;179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0" name="Google Shape;180;p2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09762"/>
            <a:ext cx="5238750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1" name="Google Shape;181;p2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043237"/>
            <a:ext cx="5238750" cy="80962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21"/>
          <p:cNvSpPr txBox="1"/>
          <p:nvPr/>
        </p:nvSpPr>
        <p:spPr>
          <a:xfrm>
            <a:off x="571500" y="1909762"/>
            <a:ext cx="523875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A cada iteração, removemos 1/4 da área restante. No limite infinito, a área sólida do triângulo </a:t>
            </a:r>
            <a:r>
              <a:rPr b="1" i="0" lang="en-US" sz="1650" u="none" cap="none" strike="noStrike">
                <a:solidFill>
                  <a:srgbClr val="CCD6F6"/>
                </a:solidFill>
                <a:latin typeface="Montserrat"/>
                <a:ea typeface="Montserrat"/>
                <a:cs typeface="Montserrat"/>
                <a:sym typeface="Montserrat"/>
              </a:rPr>
              <a:t>tende a zero</a:t>
            </a:r>
            <a:r>
              <a:rPr b="0" i="0" lang="en-US" sz="165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/>
          </a:p>
        </p:txBody>
      </p:sp>
      <p:pic>
        <p:nvPicPr>
          <p:cNvPr descr="image.png" id="183" name="Google Shape;183;p2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391275" y="1919287"/>
            <a:ext cx="5219700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84" name="Google Shape;184;p21"/>
          <p:cNvSpPr txBox="1"/>
          <p:nvPr/>
        </p:nvSpPr>
        <p:spPr>
          <a:xfrm>
            <a:off x="809625" y="571500"/>
            <a:ext cx="11351418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E6F1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PROPRIEDADES: ÁREA NULA</a:t>
            </a:r>
            <a:endParaRPr/>
          </a:p>
        </p:txBody>
      </p:sp>
      <p:sp>
        <p:nvSpPr>
          <p:cNvPr id="185" name="Google Shape;185;p21"/>
          <p:cNvSpPr/>
          <p:nvPr/>
        </p:nvSpPr>
        <p:spPr>
          <a:xfrm>
            <a:off x="571500" y="571500"/>
            <a:ext cx="57150" cy="5334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189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90" name="Google Shape;190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2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09762"/>
            <a:ext cx="5238750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2" name="Google Shape;192;p2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1919287"/>
            <a:ext cx="115252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22"/>
          <p:cNvSpPr txBox="1"/>
          <p:nvPr/>
        </p:nvSpPr>
        <p:spPr>
          <a:xfrm>
            <a:off x="6381750" y="1909762"/>
            <a:ext cx="523875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Enquanto a área desaparece, o número de bordas internas cresce exponencialmente. O perímetro total </a:t>
            </a:r>
            <a:r>
              <a:rPr b="1" i="0" lang="en-US" sz="1650" u="none" cap="none" strike="noStrike">
                <a:solidFill>
                  <a:srgbClr val="CCD6F6"/>
                </a:solidFill>
                <a:latin typeface="Montserrat"/>
                <a:ea typeface="Montserrat"/>
                <a:cs typeface="Montserrat"/>
                <a:sym typeface="Montserrat"/>
              </a:rPr>
              <a:t>tende ao infinito</a:t>
            </a:r>
            <a:r>
              <a:rPr b="0" i="0" lang="en-US" sz="165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/>
          </a:p>
        </p:txBody>
      </p:sp>
      <p:sp>
        <p:nvSpPr>
          <p:cNvPr id="194" name="Google Shape;194;p22"/>
          <p:cNvSpPr txBox="1"/>
          <p:nvPr/>
        </p:nvSpPr>
        <p:spPr>
          <a:xfrm>
            <a:off x="809625" y="571500"/>
            <a:ext cx="11351418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E6F1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PROPRIEDADES: PERÍMETRO INFINITO</a:t>
            </a:r>
            <a:endParaRPr/>
          </a:p>
        </p:txBody>
      </p:sp>
      <p:sp>
        <p:nvSpPr>
          <p:cNvPr id="195" name="Google Shape;195;p22"/>
          <p:cNvSpPr/>
          <p:nvPr/>
        </p:nvSpPr>
        <p:spPr>
          <a:xfrm>
            <a:off x="571500" y="571500"/>
            <a:ext cx="57150" cy="5334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0" name="Google Shape;200;p2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1" name="Google Shape;201;p23"/>
          <p:cNvSpPr txBox="1"/>
          <p:nvPr/>
        </p:nvSpPr>
        <p:spPr>
          <a:xfrm>
            <a:off x="571500" y="3595687"/>
            <a:ext cx="11049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Fractais não possuem dimensões inteiras (1, 2 ou 3). Eles vivem em </a:t>
            </a:r>
            <a:r>
              <a:rPr b="1" i="0" lang="en-US" sz="1650" u="none" cap="none" strike="noStrike">
                <a:solidFill>
                  <a:srgbClr val="CCD6F6"/>
                </a:solidFill>
                <a:latin typeface="Montserrat"/>
                <a:ea typeface="Montserrat"/>
                <a:cs typeface="Montserrat"/>
                <a:sym typeface="Montserrat"/>
              </a:rPr>
              <a:t>Dimensões Fracionárias</a:t>
            </a:r>
            <a:r>
              <a:rPr b="0" i="0" lang="en-US" sz="165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, que medem sua "rugosidade" ou capacidade de preencher o espaço.</a:t>
            </a:r>
            <a:endParaRPr/>
          </a:p>
        </p:txBody>
      </p:sp>
      <p:sp>
        <p:nvSpPr>
          <p:cNvPr id="202" name="Google Shape;202;p23"/>
          <p:cNvSpPr txBox="1"/>
          <p:nvPr/>
        </p:nvSpPr>
        <p:spPr>
          <a:xfrm>
            <a:off x="809625" y="571500"/>
            <a:ext cx="11351418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E6F1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 DIMENSÃO DE HAUSDORFF</a:t>
            </a:r>
            <a:endParaRPr/>
          </a:p>
        </p:txBody>
      </p:sp>
      <p:sp>
        <p:nvSpPr>
          <p:cNvPr id="203" name="Google Shape;203;p23"/>
          <p:cNvSpPr/>
          <p:nvPr/>
        </p:nvSpPr>
        <p:spPr>
          <a:xfrm>
            <a:off x="571500" y="571500"/>
            <a:ext cx="57150" cy="5334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207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8" name="Google Shape;208;p2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9" name="Google Shape;209;p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300287"/>
            <a:ext cx="11049000" cy="3219450"/>
          </a:xfrm>
          <a:prstGeom prst="rect">
            <a:avLst/>
          </a:prstGeom>
          <a:noFill/>
          <a:ln>
            <a:noFill/>
          </a:ln>
        </p:spPr>
      </p:pic>
      <p:sp>
        <p:nvSpPr>
          <p:cNvPr id="210" name="Google Shape;210;p24"/>
          <p:cNvSpPr txBox="1"/>
          <p:nvPr/>
        </p:nvSpPr>
        <p:spPr>
          <a:xfrm>
            <a:off x="895350" y="2586037"/>
            <a:ext cx="10439400" cy="4286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25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D = log(N) / log(s)</a:t>
            </a:r>
            <a:endParaRPr/>
          </a:p>
        </p:txBody>
      </p:sp>
      <p:sp>
        <p:nvSpPr>
          <p:cNvPr id="211" name="Google Shape;211;p24"/>
          <p:cNvSpPr txBox="1"/>
          <p:nvPr/>
        </p:nvSpPr>
        <p:spPr>
          <a:xfrm>
            <a:off x="895350" y="3205162"/>
            <a:ext cx="104394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N = 3 (cópias) | s = 2 (fator de escala)</a:t>
            </a:r>
            <a:endParaRPr/>
          </a:p>
        </p:txBody>
      </p:sp>
      <p:sp>
        <p:nvSpPr>
          <p:cNvPr id="212" name="Google Shape;212;p24"/>
          <p:cNvSpPr txBox="1"/>
          <p:nvPr/>
        </p:nvSpPr>
        <p:spPr>
          <a:xfrm>
            <a:off x="634365" y="3709987"/>
            <a:ext cx="10961370" cy="10191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64FFD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1,585</a:t>
            </a:r>
            <a:endParaRPr/>
          </a:p>
        </p:txBody>
      </p:sp>
      <p:sp>
        <p:nvSpPr>
          <p:cNvPr id="213" name="Google Shape;213;p24"/>
          <p:cNvSpPr txBox="1"/>
          <p:nvPr/>
        </p:nvSpPr>
        <p:spPr>
          <a:xfrm>
            <a:off x="895350" y="4919662"/>
            <a:ext cx="104394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Mais do que uma linha, mas menos do que um plano.</a:t>
            </a:r>
            <a:endParaRPr/>
          </a:p>
        </p:txBody>
      </p:sp>
      <p:sp>
        <p:nvSpPr>
          <p:cNvPr id="214" name="Google Shape;214;p24"/>
          <p:cNvSpPr txBox="1"/>
          <p:nvPr/>
        </p:nvSpPr>
        <p:spPr>
          <a:xfrm>
            <a:off x="809625" y="571500"/>
            <a:ext cx="11351418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E6F1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 DIMENSÃO DE SIERPINSKI</a:t>
            </a:r>
            <a:endParaRPr/>
          </a:p>
        </p:txBody>
      </p:sp>
      <p:sp>
        <p:nvSpPr>
          <p:cNvPr id="215" name="Google Shape;215;p24"/>
          <p:cNvSpPr/>
          <p:nvPr/>
        </p:nvSpPr>
        <p:spPr>
          <a:xfrm>
            <a:off x="571500" y="571500"/>
            <a:ext cx="57150" cy="5334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20" name="Google Shape;220;p2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1" name="Google Shape;221;p2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233737"/>
            <a:ext cx="8972550" cy="13525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22" name="Google Shape;222;p2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85800" y="3348037"/>
            <a:ext cx="50482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3" name="Google Shape;223;p25"/>
          <p:cNvSpPr txBox="1"/>
          <p:nvPr/>
        </p:nvSpPr>
        <p:spPr>
          <a:xfrm>
            <a:off x="1066800" y="3729037"/>
            <a:ext cx="798195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E6F1FF"/>
                </a:solidFill>
                <a:latin typeface="Montserrat"/>
                <a:ea typeface="Montserrat"/>
                <a:cs typeface="Montserrat"/>
                <a:sym typeface="Montserrat"/>
              </a:rPr>
              <a:t>"Imagine um barbante infinito dobrado e amassado até caber dentro de uma pequena caixa de sapatos."</a:t>
            </a:r>
            <a:endParaRPr/>
          </a:p>
        </p:txBody>
      </p:sp>
      <p:sp>
        <p:nvSpPr>
          <p:cNvPr id="224" name="Google Shape;224;p25"/>
          <p:cNvSpPr txBox="1"/>
          <p:nvPr/>
        </p:nvSpPr>
        <p:spPr>
          <a:xfrm>
            <a:off x="3876675" y="3910012"/>
            <a:ext cx="2362200" cy="180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1" lang="en-US" sz="1200" u="none" cap="none" strike="noStrike">
                <a:solidFill>
                  <a:srgbClr val="E6F1FF"/>
                </a:solidFill>
                <a:latin typeface="Montserrat"/>
                <a:ea typeface="Montserrat"/>
                <a:cs typeface="Montserrat"/>
                <a:sym typeface="Montserrat"/>
              </a:rPr>
              <a:t>— Analogia para a Borda Fractal</a:t>
            </a:r>
            <a:endParaRPr/>
          </a:p>
        </p:txBody>
      </p:sp>
      <p:pic>
        <p:nvPicPr>
          <p:cNvPr descr="image.png" id="225" name="Google Shape;225;p2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924925" y="3900487"/>
            <a:ext cx="504825" cy="571500"/>
          </a:xfrm>
          <a:prstGeom prst="rect">
            <a:avLst/>
          </a:prstGeom>
          <a:noFill/>
          <a:ln>
            <a:noFill/>
          </a:ln>
        </p:spPr>
      </p:pic>
      <p:sp>
        <p:nvSpPr>
          <p:cNvPr id="226" name="Google Shape;226;p25"/>
          <p:cNvSpPr txBox="1"/>
          <p:nvPr/>
        </p:nvSpPr>
        <p:spPr>
          <a:xfrm>
            <a:off x="809625" y="571500"/>
            <a:ext cx="11351418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E6F1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 PARADOXO DA BORDA</a:t>
            </a:r>
            <a:endParaRPr/>
          </a:p>
        </p:txBody>
      </p:sp>
      <p:sp>
        <p:nvSpPr>
          <p:cNvPr id="227" name="Google Shape;227;p25"/>
          <p:cNvSpPr/>
          <p:nvPr/>
        </p:nvSpPr>
        <p:spPr>
          <a:xfrm>
            <a:off x="571500" y="571500"/>
            <a:ext cx="57150" cy="5334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32" name="Google Shape;232;p2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33" name="Google Shape;233;p2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09762"/>
            <a:ext cx="52387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34" name="Google Shape;234;p26"/>
          <p:cNvSpPr txBox="1"/>
          <p:nvPr/>
        </p:nvSpPr>
        <p:spPr>
          <a:xfrm>
            <a:off x="571500" y="1909762"/>
            <a:ext cx="550068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E6F1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Analogia do Queijo Suíço</a:t>
            </a:r>
            <a:endParaRPr/>
          </a:p>
        </p:txBody>
      </p:sp>
      <p:sp>
        <p:nvSpPr>
          <p:cNvPr id="235" name="Google Shape;235;p26"/>
          <p:cNvSpPr txBox="1"/>
          <p:nvPr/>
        </p:nvSpPr>
        <p:spPr>
          <a:xfrm>
            <a:off x="571500" y="2147887"/>
            <a:ext cx="523875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Ao retirar o miolo em cada etapa, o objeto torna-se infinitamente poroso. No limite, não sobra preenchimento, apenas a </a:t>
            </a:r>
            <a:r>
              <a:rPr b="1" i="0" lang="en-US" sz="1650" u="none" cap="none" strike="noStrike">
                <a:solidFill>
                  <a:srgbClr val="CCD6F6"/>
                </a:solidFill>
                <a:latin typeface="Montserrat"/>
                <a:ea typeface="Montserrat"/>
                <a:cs typeface="Montserrat"/>
                <a:sym typeface="Montserrat"/>
              </a:rPr>
              <a:t>estrutura da borda</a:t>
            </a:r>
            <a:r>
              <a:rPr b="0" i="0" lang="en-US" sz="165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/>
          </a:p>
        </p:txBody>
      </p:sp>
      <p:sp>
        <p:nvSpPr>
          <p:cNvPr id="236" name="Google Shape;236;p26"/>
          <p:cNvSpPr txBox="1"/>
          <p:nvPr/>
        </p:nvSpPr>
        <p:spPr>
          <a:xfrm>
            <a:off x="571500" y="3281362"/>
            <a:ext cx="52387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É o que chamamos de </a:t>
            </a:r>
            <a:r>
              <a:rPr b="1" i="0" lang="en-US" sz="1650" u="none" cap="none" strike="noStrike">
                <a:solidFill>
                  <a:srgbClr val="CCD6F6"/>
                </a:solidFill>
                <a:latin typeface="Montserrat"/>
                <a:ea typeface="Montserrat"/>
                <a:cs typeface="Montserrat"/>
                <a:sym typeface="Montserrat"/>
              </a:rPr>
              <a:t>Vácuo Fractal</a:t>
            </a:r>
            <a:r>
              <a:rPr b="0" i="0" lang="en-US" sz="165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/>
          </a:p>
        </p:txBody>
      </p:sp>
      <p:pic>
        <p:nvPicPr>
          <p:cNvPr descr="image.png" id="237" name="Google Shape;237;p2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919287"/>
            <a:ext cx="5219700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38" name="Google Shape;238;p26"/>
          <p:cNvSpPr txBox="1"/>
          <p:nvPr/>
        </p:nvSpPr>
        <p:spPr>
          <a:xfrm>
            <a:off x="809625" y="571500"/>
            <a:ext cx="11351418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E6F1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ANALÓGICA: O VÁCUO FRACTAL</a:t>
            </a:r>
            <a:endParaRPr/>
          </a:p>
        </p:txBody>
      </p:sp>
      <p:sp>
        <p:nvSpPr>
          <p:cNvPr id="239" name="Google Shape;239;p26"/>
          <p:cNvSpPr/>
          <p:nvPr/>
        </p:nvSpPr>
        <p:spPr>
          <a:xfrm>
            <a:off x="571500" y="571500"/>
            <a:ext cx="57150" cy="5334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44" name="Google Shape;244;p2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45" name="Google Shape;245;p27"/>
          <p:cNvSpPr/>
          <p:nvPr/>
        </p:nvSpPr>
        <p:spPr>
          <a:xfrm>
            <a:off x="5619750" y="2700337"/>
            <a:ext cx="952500" cy="381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6" name="Google Shape;246;p27"/>
          <p:cNvSpPr txBox="1"/>
          <p:nvPr/>
        </p:nvSpPr>
        <p:spPr>
          <a:xfrm>
            <a:off x="295275" y="3024187"/>
            <a:ext cx="11601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64FFD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II. Ordem e Caos</a:t>
            </a:r>
            <a:endParaRPr/>
          </a:p>
        </p:txBody>
      </p:sp>
      <p:sp>
        <p:nvSpPr>
          <p:cNvPr id="247" name="Google Shape;247;p27"/>
          <p:cNvSpPr txBox="1"/>
          <p:nvPr/>
        </p:nvSpPr>
        <p:spPr>
          <a:xfrm>
            <a:off x="571500" y="4129087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A emergência de padrões determinísticos através de eventos aleatórios.</a:t>
            </a: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251" name="Shape 2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52" name="Google Shape;252;p2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3" name="Google Shape;253;p2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09762"/>
            <a:ext cx="5238750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54" name="Google Shape;254;p2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919287"/>
            <a:ext cx="14668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28"/>
          <p:cNvSpPr txBox="1"/>
          <p:nvPr/>
        </p:nvSpPr>
        <p:spPr>
          <a:xfrm>
            <a:off x="733425" y="1909762"/>
            <a:ext cx="1238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1.</a:t>
            </a:r>
            <a:endParaRPr/>
          </a:p>
        </p:txBody>
      </p:sp>
      <p:sp>
        <p:nvSpPr>
          <p:cNvPr id="256" name="Google Shape;256;p28"/>
          <p:cNvSpPr txBox="1"/>
          <p:nvPr/>
        </p:nvSpPr>
        <p:spPr>
          <a:xfrm>
            <a:off x="857250" y="1909762"/>
            <a:ext cx="4953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2382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Defina 3 vértices (A, B, C).</a:t>
            </a:r>
            <a:endParaRPr/>
          </a:p>
        </p:txBody>
      </p:sp>
      <p:sp>
        <p:nvSpPr>
          <p:cNvPr id="257" name="Google Shape;257;p28"/>
          <p:cNvSpPr txBox="1"/>
          <p:nvPr/>
        </p:nvSpPr>
        <p:spPr>
          <a:xfrm>
            <a:off x="685800" y="2366962"/>
            <a:ext cx="1714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2.</a:t>
            </a:r>
            <a:endParaRPr/>
          </a:p>
        </p:txBody>
      </p:sp>
      <p:sp>
        <p:nvSpPr>
          <p:cNvPr id="258" name="Google Shape;258;p28"/>
          <p:cNvSpPr txBox="1"/>
          <p:nvPr/>
        </p:nvSpPr>
        <p:spPr>
          <a:xfrm>
            <a:off x="857250" y="2366962"/>
            <a:ext cx="4953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7145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Escolha um ponto inicial aleatório.</a:t>
            </a:r>
            <a:endParaRPr/>
          </a:p>
        </p:txBody>
      </p:sp>
      <p:sp>
        <p:nvSpPr>
          <p:cNvPr id="259" name="Google Shape;259;p28"/>
          <p:cNvSpPr txBox="1"/>
          <p:nvPr/>
        </p:nvSpPr>
        <p:spPr>
          <a:xfrm>
            <a:off x="695325" y="2824162"/>
            <a:ext cx="1619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3.</a:t>
            </a:r>
            <a:endParaRPr/>
          </a:p>
        </p:txBody>
      </p:sp>
      <p:sp>
        <p:nvSpPr>
          <p:cNvPr id="260" name="Google Shape;260;p28"/>
          <p:cNvSpPr txBox="1"/>
          <p:nvPr/>
        </p:nvSpPr>
        <p:spPr>
          <a:xfrm>
            <a:off x="857250" y="2824162"/>
            <a:ext cx="4953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6192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Sorteie um vértice (use um dado).</a:t>
            </a:r>
            <a:endParaRPr/>
          </a:p>
        </p:txBody>
      </p:sp>
      <p:sp>
        <p:nvSpPr>
          <p:cNvPr id="261" name="Google Shape;261;p28"/>
          <p:cNvSpPr txBox="1"/>
          <p:nvPr/>
        </p:nvSpPr>
        <p:spPr>
          <a:xfrm>
            <a:off x="666750" y="3281362"/>
            <a:ext cx="1905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4.</a:t>
            </a:r>
            <a:endParaRPr/>
          </a:p>
        </p:txBody>
      </p:sp>
      <p:sp>
        <p:nvSpPr>
          <p:cNvPr id="262" name="Google Shape;262;p28"/>
          <p:cNvSpPr txBox="1"/>
          <p:nvPr/>
        </p:nvSpPr>
        <p:spPr>
          <a:xfrm>
            <a:off x="857250" y="3281362"/>
            <a:ext cx="4953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9050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Marque o </a:t>
            </a:r>
            <a:r>
              <a:rPr b="1" i="0" lang="en-US" sz="1650" u="none" cap="none" strike="noStrike">
                <a:solidFill>
                  <a:srgbClr val="CCD6F6"/>
                </a:solidFill>
                <a:latin typeface="Montserrat"/>
                <a:ea typeface="Montserrat"/>
                <a:cs typeface="Montserrat"/>
                <a:sym typeface="Montserrat"/>
              </a:rPr>
              <a:t>ponto médio</a:t>
            </a:r>
            <a:r>
              <a:rPr b="0" i="0" lang="en-US" sz="165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 entre a posição atual e o vértice sorteado.</a:t>
            </a:r>
            <a:endParaRPr/>
          </a:p>
        </p:txBody>
      </p:sp>
      <p:sp>
        <p:nvSpPr>
          <p:cNvPr id="263" name="Google Shape;263;p28"/>
          <p:cNvSpPr txBox="1"/>
          <p:nvPr/>
        </p:nvSpPr>
        <p:spPr>
          <a:xfrm>
            <a:off x="695325" y="4052887"/>
            <a:ext cx="161925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5.</a:t>
            </a:r>
            <a:endParaRPr/>
          </a:p>
        </p:txBody>
      </p:sp>
      <p:sp>
        <p:nvSpPr>
          <p:cNvPr id="264" name="Google Shape;264;p28"/>
          <p:cNvSpPr txBox="1"/>
          <p:nvPr/>
        </p:nvSpPr>
        <p:spPr>
          <a:xfrm>
            <a:off x="857250" y="4052887"/>
            <a:ext cx="4953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16192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Repita milhares de vezes.</a:t>
            </a:r>
            <a:endParaRPr/>
          </a:p>
        </p:txBody>
      </p:sp>
      <p:sp>
        <p:nvSpPr>
          <p:cNvPr id="265" name="Google Shape;265;p28"/>
          <p:cNvSpPr txBox="1"/>
          <p:nvPr/>
        </p:nvSpPr>
        <p:spPr>
          <a:xfrm>
            <a:off x="809625" y="571500"/>
            <a:ext cx="11351418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E6F1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REGRAS DO JOGO DO CAOS</a:t>
            </a:r>
            <a:endParaRPr/>
          </a:p>
        </p:txBody>
      </p:sp>
      <p:sp>
        <p:nvSpPr>
          <p:cNvPr id="266" name="Google Shape;266;p28"/>
          <p:cNvSpPr/>
          <p:nvPr/>
        </p:nvSpPr>
        <p:spPr>
          <a:xfrm>
            <a:off x="571500" y="571500"/>
            <a:ext cx="57150" cy="5334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71" name="Google Shape;271;p2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2" name="Google Shape;272;p2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09762"/>
            <a:ext cx="5238750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3" name="Google Shape;273;p2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81750" y="2728912"/>
            <a:ext cx="5238750" cy="9334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74" name="Google Shape;274;p2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81025" y="1919287"/>
            <a:ext cx="152400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75" name="Google Shape;275;p29"/>
          <p:cNvSpPr txBox="1"/>
          <p:nvPr/>
        </p:nvSpPr>
        <p:spPr>
          <a:xfrm>
            <a:off x="6381750" y="1909762"/>
            <a:ext cx="5238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Mesmo com escolhas aleatórias, o Triângulo de Sierpinski surge com perfeição matemática.</a:t>
            </a:r>
            <a:endParaRPr/>
          </a:p>
        </p:txBody>
      </p:sp>
      <p:sp>
        <p:nvSpPr>
          <p:cNvPr id="276" name="Google Shape;276;p29"/>
          <p:cNvSpPr txBox="1"/>
          <p:nvPr/>
        </p:nvSpPr>
        <p:spPr>
          <a:xfrm>
            <a:off x="809625" y="571500"/>
            <a:ext cx="11351418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E6F1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 ORDEM EMERGENTE</a:t>
            </a:r>
            <a:endParaRPr/>
          </a:p>
        </p:txBody>
      </p:sp>
      <p:sp>
        <p:nvSpPr>
          <p:cNvPr id="277" name="Google Shape;277;p29"/>
          <p:cNvSpPr/>
          <p:nvPr/>
        </p:nvSpPr>
        <p:spPr>
          <a:xfrm>
            <a:off x="571500" y="571500"/>
            <a:ext cx="57150" cy="5334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82" name="Google Shape;282;p3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83" name="Google Shape;283;p3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09762"/>
            <a:ext cx="52387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284" name="Google Shape;284;p30"/>
          <p:cNvSpPr txBox="1"/>
          <p:nvPr/>
        </p:nvSpPr>
        <p:spPr>
          <a:xfrm>
            <a:off x="571500" y="1909762"/>
            <a:ext cx="523875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O </a:t>
            </a:r>
            <a:r>
              <a:rPr b="1" i="0" lang="en-US" sz="1650" u="none" cap="none" strike="noStrike">
                <a:solidFill>
                  <a:srgbClr val="CCD6F6"/>
                </a:solidFill>
                <a:latin typeface="Montserrat"/>
                <a:ea typeface="Montserrat"/>
                <a:cs typeface="Montserrat"/>
                <a:sym typeface="Montserrat"/>
              </a:rPr>
              <a:t>Floco de Neve de Koch</a:t>
            </a:r>
            <a:r>
              <a:rPr b="0" i="0" lang="en-US" sz="165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 (1904) é construído adicionando triângulos equiláteros nos terços médios de cada lado.</a:t>
            </a:r>
            <a:endParaRPr/>
          </a:p>
        </p:txBody>
      </p:sp>
      <p:pic>
        <p:nvPicPr>
          <p:cNvPr descr="image.png" id="285" name="Google Shape;285;p3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919287"/>
            <a:ext cx="5219700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286" name="Google Shape;286;p30"/>
          <p:cNvSpPr txBox="1"/>
          <p:nvPr/>
        </p:nvSpPr>
        <p:spPr>
          <a:xfrm>
            <a:off x="809625" y="571500"/>
            <a:ext cx="11351418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E6F1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 TEOREMA DE KOCH</a:t>
            </a:r>
            <a:endParaRPr/>
          </a:p>
        </p:txBody>
      </p:sp>
      <p:sp>
        <p:nvSpPr>
          <p:cNvPr id="287" name="Google Shape;287;p30"/>
          <p:cNvSpPr/>
          <p:nvPr/>
        </p:nvSpPr>
        <p:spPr>
          <a:xfrm>
            <a:off x="571500" y="571500"/>
            <a:ext cx="57150" cy="5334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92" name="Google Shape;292;p3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3" name="Google Shape;293;p3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09762"/>
            <a:ext cx="5238750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94" name="Google Shape;294;p3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1919287"/>
            <a:ext cx="16668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295" name="Google Shape;295;p31"/>
          <p:cNvSpPr txBox="1"/>
          <p:nvPr/>
        </p:nvSpPr>
        <p:spPr>
          <a:xfrm>
            <a:off x="6381750" y="1909762"/>
            <a:ext cx="523875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Tente medir o litoral do Brasil. Com uma régua de 100km, você ignora cada baía. Com uma régua de 1m, o tamanho aumenta drasticamente.</a:t>
            </a:r>
            <a:endParaRPr/>
          </a:p>
        </p:txBody>
      </p:sp>
      <p:sp>
        <p:nvSpPr>
          <p:cNvPr id="296" name="Google Shape;296;p31"/>
          <p:cNvSpPr txBox="1"/>
          <p:nvPr/>
        </p:nvSpPr>
        <p:spPr>
          <a:xfrm>
            <a:off x="6381750" y="3043237"/>
            <a:ext cx="5238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Litorais reais são </a:t>
            </a:r>
            <a:r>
              <a:rPr b="1" i="0" lang="en-US" sz="1650" u="none" cap="none" strike="noStrike">
                <a:solidFill>
                  <a:srgbClr val="CCD6F6"/>
                </a:solidFill>
                <a:latin typeface="Montserrat"/>
                <a:ea typeface="Montserrat"/>
                <a:cs typeface="Montserrat"/>
                <a:sym typeface="Montserrat"/>
              </a:rPr>
              <a:t>Curvas de Koch</a:t>
            </a:r>
            <a:r>
              <a:rPr b="0" i="0" lang="en-US" sz="165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 naturais: seu comprimento depende da escala da régua.</a:t>
            </a:r>
            <a:endParaRPr/>
          </a:p>
        </p:txBody>
      </p:sp>
      <p:sp>
        <p:nvSpPr>
          <p:cNvPr id="297" name="Google Shape;297;p31"/>
          <p:cNvSpPr txBox="1"/>
          <p:nvPr/>
        </p:nvSpPr>
        <p:spPr>
          <a:xfrm>
            <a:off x="809625" y="571500"/>
            <a:ext cx="11351418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E6F1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 PARADOXO DO LITORAL</a:t>
            </a:r>
            <a:endParaRPr/>
          </a:p>
        </p:txBody>
      </p:sp>
      <p:sp>
        <p:nvSpPr>
          <p:cNvPr id="298" name="Google Shape;298;p31"/>
          <p:cNvSpPr/>
          <p:nvPr/>
        </p:nvSpPr>
        <p:spPr>
          <a:xfrm>
            <a:off x="571500" y="571500"/>
            <a:ext cx="57150" cy="5334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03" name="Google Shape;303;p3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04" name="Google Shape;304;p32"/>
          <p:cNvSpPr/>
          <p:nvPr/>
        </p:nvSpPr>
        <p:spPr>
          <a:xfrm>
            <a:off x="5619750" y="2700337"/>
            <a:ext cx="952500" cy="381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32"/>
          <p:cNvSpPr txBox="1"/>
          <p:nvPr/>
        </p:nvSpPr>
        <p:spPr>
          <a:xfrm>
            <a:off x="295275" y="3024187"/>
            <a:ext cx="11601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64FFD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III. O Legado de Cantor</a:t>
            </a:r>
            <a:endParaRPr/>
          </a:p>
        </p:txBody>
      </p:sp>
      <p:sp>
        <p:nvSpPr>
          <p:cNvPr id="306" name="Google Shape;306;p32"/>
          <p:cNvSpPr txBox="1"/>
          <p:nvPr/>
        </p:nvSpPr>
        <p:spPr>
          <a:xfrm>
            <a:off x="571500" y="4129087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A poeira matemática que fundamenta a teoria moderna do infinito.</a:t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11" name="Google Shape;311;p3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12" name="Google Shape;312;p3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09762"/>
            <a:ext cx="52387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13" name="Google Shape;313;p33"/>
          <p:cNvSpPr txBox="1"/>
          <p:nvPr/>
        </p:nvSpPr>
        <p:spPr>
          <a:xfrm>
            <a:off x="571500" y="1909762"/>
            <a:ext cx="523875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Matemático nascido na Rússia e radicado na Alemanha, provou que existem </a:t>
            </a:r>
            <a:r>
              <a:rPr b="1" i="0" lang="en-US" sz="1650" u="none" cap="none" strike="noStrike">
                <a:solidFill>
                  <a:srgbClr val="CCD6F6"/>
                </a:solidFill>
                <a:latin typeface="Montserrat"/>
                <a:ea typeface="Montserrat"/>
                <a:cs typeface="Montserrat"/>
                <a:sym typeface="Montserrat"/>
              </a:rPr>
              <a:t>diferentes tamanhos de infinito</a:t>
            </a:r>
            <a:r>
              <a:rPr b="0" i="0" lang="en-US" sz="165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/>
          </a:p>
        </p:txBody>
      </p:sp>
      <p:sp>
        <p:nvSpPr>
          <p:cNvPr id="314" name="Google Shape;314;p33"/>
          <p:cNvSpPr txBox="1"/>
          <p:nvPr/>
        </p:nvSpPr>
        <p:spPr>
          <a:xfrm>
            <a:off x="571500" y="3043237"/>
            <a:ext cx="523875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Sua obra desafiou a intuição clássica e foi inicialmente rejeitada como "histeria matemática".</a:t>
            </a:r>
            <a:endParaRPr/>
          </a:p>
        </p:txBody>
      </p:sp>
      <p:pic>
        <p:nvPicPr>
          <p:cNvPr descr="image.png" id="315" name="Google Shape;315;p3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919287"/>
            <a:ext cx="17716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316" name="Google Shape;316;p33"/>
          <p:cNvSpPr txBox="1"/>
          <p:nvPr/>
        </p:nvSpPr>
        <p:spPr>
          <a:xfrm>
            <a:off x="809625" y="571500"/>
            <a:ext cx="11351418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E6F1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GEORG CANTOR (1845-1918)</a:t>
            </a:r>
            <a:endParaRPr/>
          </a:p>
        </p:txBody>
      </p:sp>
      <p:sp>
        <p:nvSpPr>
          <p:cNvPr id="317" name="Google Shape;317;p33"/>
          <p:cNvSpPr/>
          <p:nvPr/>
        </p:nvSpPr>
        <p:spPr>
          <a:xfrm>
            <a:off x="571500" y="571500"/>
            <a:ext cx="57150" cy="5334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321" name="Shape 3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22" name="Google Shape;322;p3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3" name="Google Shape;323;p3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09762"/>
            <a:ext cx="5238750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24" name="Google Shape;324;p3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1919287"/>
            <a:ext cx="5219700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34"/>
          <p:cNvSpPr txBox="1"/>
          <p:nvPr/>
        </p:nvSpPr>
        <p:spPr>
          <a:xfrm>
            <a:off x="6381750" y="1909762"/>
            <a:ext cx="5238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Construído removendo sistematicamente o </a:t>
            </a:r>
            <a:r>
              <a:rPr b="1" i="0" lang="en-US" sz="1650" u="none" cap="none" strike="noStrike">
                <a:solidFill>
                  <a:srgbClr val="CCD6F6"/>
                </a:solidFill>
                <a:latin typeface="Montserrat"/>
                <a:ea typeface="Montserrat"/>
                <a:cs typeface="Montserrat"/>
                <a:sym typeface="Montserrat"/>
              </a:rPr>
              <a:t>terço médio</a:t>
            </a:r>
            <a:r>
              <a:rPr b="0" i="0" lang="en-US" sz="165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 de cada segmento de reta ad infinitum.</a:t>
            </a:r>
            <a:endParaRPr/>
          </a:p>
        </p:txBody>
      </p:sp>
      <p:sp>
        <p:nvSpPr>
          <p:cNvPr id="326" name="Google Shape;326;p34"/>
          <p:cNvSpPr txBox="1"/>
          <p:nvPr/>
        </p:nvSpPr>
        <p:spPr>
          <a:xfrm>
            <a:off x="6381750" y="2728912"/>
            <a:ext cx="5238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O resultado é o que chamamos de </a:t>
            </a:r>
            <a:r>
              <a:rPr b="1" i="0" lang="en-US" sz="1650" u="none" cap="none" strike="noStrike">
                <a:solidFill>
                  <a:srgbClr val="CCD6F6"/>
                </a:solidFill>
                <a:latin typeface="Montserrat"/>
                <a:ea typeface="Montserrat"/>
                <a:cs typeface="Montserrat"/>
                <a:sym typeface="Montserrat"/>
              </a:rPr>
              <a:t>Poeira de Cantor</a:t>
            </a:r>
            <a:r>
              <a:rPr b="0" i="0" lang="en-US" sz="165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/>
          </a:p>
        </p:txBody>
      </p:sp>
      <p:sp>
        <p:nvSpPr>
          <p:cNvPr id="327" name="Google Shape;327;p34"/>
          <p:cNvSpPr txBox="1"/>
          <p:nvPr/>
        </p:nvSpPr>
        <p:spPr>
          <a:xfrm>
            <a:off x="809625" y="571500"/>
            <a:ext cx="11351418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E6F1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 CONJUNTO DE CANTOR</a:t>
            </a:r>
            <a:endParaRPr/>
          </a:p>
        </p:txBody>
      </p:sp>
      <p:sp>
        <p:nvSpPr>
          <p:cNvPr id="328" name="Google Shape;328;p34"/>
          <p:cNvSpPr/>
          <p:nvPr/>
        </p:nvSpPr>
        <p:spPr>
          <a:xfrm>
            <a:off x="571500" y="571500"/>
            <a:ext cx="57150" cy="5334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33" name="Google Shape;333;p3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34" name="Google Shape;334;p3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924175"/>
            <a:ext cx="11049000" cy="1971675"/>
          </a:xfrm>
          <a:prstGeom prst="rect">
            <a:avLst/>
          </a:prstGeom>
          <a:noFill/>
          <a:ln>
            <a:noFill/>
          </a:ln>
        </p:spPr>
      </p:pic>
      <p:sp>
        <p:nvSpPr>
          <p:cNvPr id="335" name="Google Shape;335;p35"/>
          <p:cNvSpPr txBox="1"/>
          <p:nvPr/>
        </p:nvSpPr>
        <p:spPr>
          <a:xfrm>
            <a:off x="895350" y="3209925"/>
            <a:ext cx="104394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Se você somar o comprimento de todos os intervalos removidos, o resultado é </a:t>
            </a:r>
            <a:r>
              <a:rPr b="1" i="0" lang="en-US" sz="1650" u="none" cap="none" strike="noStrike">
                <a:solidFill>
                  <a:srgbClr val="CCD6F6"/>
                </a:solidFill>
                <a:latin typeface="Montserrat"/>
                <a:ea typeface="Montserrat"/>
                <a:cs typeface="Montserrat"/>
                <a:sym typeface="Montserrat"/>
              </a:rPr>
              <a:t>exatamente 1</a:t>
            </a:r>
            <a:r>
              <a:rPr b="0" i="0" lang="en-US" sz="165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 (o comprimento total).</a:t>
            </a:r>
            <a:endParaRPr/>
          </a:p>
        </p:txBody>
      </p:sp>
      <p:sp>
        <p:nvSpPr>
          <p:cNvPr id="336" name="Google Shape;336;p35"/>
          <p:cNvSpPr txBox="1"/>
          <p:nvPr/>
        </p:nvSpPr>
        <p:spPr>
          <a:xfrm>
            <a:off x="895350" y="3981450"/>
            <a:ext cx="104394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5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Paradoxo:</a:t>
            </a:r>
            <a:endParaRPr/>
          </a:p>
        </p:txBody>
      </p:sp>
      <p:sp>
        <p:nvSpPr>
          <p:cNvPr id="337" name="Google Shape;337;p35"/>
          <p:cNvSpPr txBox="1"/>
          <p:nvPr/>
        </p:nvSpPr>
        <p:spPr>
          <a:xfrm>
            <a:off x="895350" y="4295775"/>
            <a:ext cx="104394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Embora contenha infinitos pontos, o conjunto "ocupa" 0% do espaço linear original.</a:t>
            </a:r>
            <a:endParaRPr/>
          </a:p>
        </p:txBody>
      </p:sp>
      <p:sp>
        <p:nvSpPr>
          <p:cNvPr id="338" name="Google Shape;338;p35"/>
          <p:cNvSpPr txBox="1"/>
          <p:nvPr/>
        </p:nvSpPr>
        <p:spPr>
          <a:xfrm>
            <a:off x="809625" y="571500"/>
            <a:ext cx="11351418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E6F1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PROPRIEDADE: MEDIDA ZERO</a:t>
            </a:r>
            <a:endParaRPr/>
          </a:p>
        </p:txBody>
      </p:sp>
      <p:sp>
        <p:nvSpPr>
          <p:cNvPr id="339" name="Google Shape;339;p35"/>
          <p:cNvSpPr/>
          <p:nvPr/>
        </p:nvSpPr>
        <p:spPr>
          <a:xfrm>
            <a:off x="571500" y="571500"/>
            <a:ext cx="57150" cy="5334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343" name="Shape 3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44" name="Google Shape;344;p3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45" name="Google Shape;345;p3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09762"/>
            <a:ext cx="52387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p36"/>
          <p:cNvSpPr txBox="1"/>
          <p:nvPr/>
        </p:nvSpPr>
        <p:spPr>
          <a:xfrm>
            <a:off x="571500" y="1909762"/>
            <a:ext cx="5238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Apesar da medida zero, o Conjunto de Cantor é </a:t>
            </a:r>
            <a:r>
              <a:rPr b="1" i="0" lang="en-US" sz="1650" u="none" cap="none" strike="noStrike">
                <a:solidFill>
                  <a:srgbClr val="CCD6F6"/>
                </a:solidFill>
                <a:latin typeface="Montserrat"/>
                <a:ea typeface="Montserrat"/>
                <a:cs typeface="Montserrat"/>
                <a:sym typeface="Montserrat"/>
              </a:rPr>
              <a:t>não-enumerável</a:t>
            </a:r>
            <a:r>
              <a:rPr b="0" i="0" lang="en-US" sz="165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/>
          </a:p>
        </p:txBody>
      </p:sp>
      <p:sp>
        <p:nvSpPr>
          <p:cNvPr id="347" name="Google Shape;347;p36"/>
          <p:cNvSpPr txBox="1"/>
          <p:nvPr/>
        </p:nvSpPr>
        <p:spPr>
          <a:xfrm>
            <a:off x="571500" y="2728912"/>
            <a:ext cx="523875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Ele possui a mesma cardinalidade (tamanho do infinito) que o conjunto dos Números Reais.</a:t>
            </a:r>
            <a:endParaRPr/>
          </a:p>
        </p:txBody>
      </p:sp>
      <p:pic>
        <p:nvPicPr>
          <p:cNvPr descr="image.png" id="348" name="Google Shape;348;p3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919287"/>
            <a:ext cx="168592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349" name="Google Shape;349;p36"/>
          <p:cNvSpPr txBox="1"/>
          <p:nvPr/>
        </p:nvSpPr>
        <p:spPr>
          <a:xfrm>
            <a:off x="809625" y="571500"/>
            <a:ext cx="11351418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E6F1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O PONTO INCONTÁVEL</a:t>
            </a:r>
            <a:endParaRPr/>
          </a:p>
        </p:txBody>
      </p:sp>
      <p:sp>
        <p:nvSpPr>
          <p:cNvPr id="350" name="Google Shape;350;p36"/>
          <p:cNvSpPr/>
          <p:nvPr/>
        </p:nvSpPr>
        <p:spPr>
          <a:xfrm>
            <a:off x="571500" y="571500"/>
            <a:ext cx="57150" cy="5334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354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55" name="Google Shape;355;p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6" name="Google Shape;356;p3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09762"/>
            <a:ext cx="5238750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57" name="Google Shape;357;p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1919287"/>
            <a:ext cx="1466850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358" name="Google Shape;358;p37"/>
          <p:cNvSpPr txBox="1"/>
          <p:nvPr/>
        </p:nvSpPr>
        <p:spPr>
          <a:xfrm>
            <a:off x="6381750" y="1909762"/>
            <a:ext cx="523875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Um ponto pertence ao Conjunto de Cantor se sua representação em base 3 </a:t>
            </a:r>
            <a:r>
              <a:rPr b="1" i="0" lang="en-US" sz="1650" u="none" cap="none" strike="noStrike">
                <a:solidFill>
                  <a:srgbClr val="CCD6F6"/>
                </a:solidFill>
                <a:latin typeface="Montserrat"/>
                <a:ea typeface="Montserrat"/>
                <a:cs typeface="Montserrat"/>
                <a:sym typeface="Montserrat"/>
              </a:rPr>
              <a:t>não contém o dígito 1</a:t>
            </a:r>
            <a:r>
              <a:rPr b="0" i="0" lang="en-US" sz="165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.</a:t>
            </a:r>
            <a:endParaRPr/>
          </a:p>
        </p:txBody>
      </p:sp>
      <p:sp>
        <p:nvSpPr>
          <p:cNvPr id="359" name="Google Shape;359;p37"/>
          <p:cNvSpPr txBox="1"/>
          <p:nvPr/>
        </p:nvSpPr>
        <p:spPr>
          <a:xfrm>
            <a:off x="6381750" y="4376737"/>
            <a:ext cx="523875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Isso torna o conjunto um filtro aritmético infinito.</a:t>
            </a:r>
            <a:endParaRPr/>
          </a:p>
        </p:txBody>
      </p:sp>
      <p:sp>
        <p:nvSpPr>
          <p:cNvPr id="360" name="Google Shape;360;p37"/>
          <p:cNvSpPr txBox="1"/>
          <p:nvPr/>
        </p:nvSpPr>
        <p:spPr>
          <a:xfrm>
            <a:off x="809625" y="571500"/>
            <a:ext cx="11351418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E6F1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LÓGICA TERNÁRIA (BASE 3)</a:t>
            </a:r>
            <a:endParaRPr/>
          </a:p>
        </p:txBody>
      </p:sp>
      <p:sp>
        <p:nvSpPr>
          <p:cNvPr id="361" name="Google Shape;361;p37"/>
          <p:cNvSpPr/>
          <p:nvPr/>
        </p:nvSpPr>
        <p:spPr>
          <a:xfrm>
            <a:off x="571500" y="571500"/>
            <a:ext cx="57150" cy="5334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365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66" name="Google Shape;366;p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38"/>
          <p:cNvSpPr txBox="1"/>
          <p:nvPr/>
        </p:nvSpPr>
        <p:spPr>
          <a:xfrm>
            <a:off x="571500" y="3595687"/>
            <a:ext cx="110490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As </a:t>
            </a:r>
            <a:r>
              <a:rPr b="1" i="0" lang="en-US" sz="1650" u="none" cap="none" strike="noStrike">
                <a:solidFill>
                  <a:srgbClr val="CCD6F6"/>
                </a:solidFill>
                <a:latin typeface="Montserrat"/>
                <a:ea typeface="Montserrat"/>
                <a:cs typeface="Montserrat"/>
                <a:sym typeface="Montserrat"/>
              </a:rPr>
              <a:t>Sistemas de Funções Iteradas (IFS)</a:t>
            </a:r>
            <a:r>
              <a:rPr b="0" i="0" lang="en-US" sz="165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 são o motor matemático por trás de fractais complexos. Elas mapeiam o destino de cada ponto através de transformações geométricas simples.</a:t>
            </a:r>
            <a:endParaRPr/>
          </a:p>
        </p:txBody>
      </p:sp>
      <p:sp>
        <p:nvSpPr>
          <p:cNvPr id="368" name="Google Shape;368;p38"/>
          <p:cNvSpPr txBox="1"/>
          <p:nvPr/>
        </p:nvSpPr>
        <p:spPr>
          <a:xfrm>
            <a:off x="809625" y="571500"/>
            <a:ext cx="11351418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E6F1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ENDEREÇANDO O CAOS (IFS)</a:t>
            </a:r>
            <a:endParaRPr/>
          </a:p>
        </p:txBody>
      </p:sp>
      <p:sp>
        <p:nvSpPr>
          <p:cNvPr id="369" name="Google Shape;369;p38"/>
          <p:cNvSpPr/>
          <p:nvPr/>
        </p:nvSpPr>
        <p:spPr>
          <a:xfrm>
            <a:off x="571500" y="571500"/>
            <a:ext cx="57150" cy="5334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74" name="Google Shape;374;p3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375" name="Google Shape;375;p3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09762"/>
            <a:ext cx="52387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6" name="Google Shape;376;p39"/>
          <p:cNvSpPr txBox="1"/>
          <p:nvPr/>
        </p:nvSpPr>
        <p:spPr>
          <a:xfrm>
            <a:off x="571500" y="3281362"/>
            <a:ext cx="523875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Estas funções definem onde cada sub-segmento do Conjunto de Cantor será "desenhado" na próxima iteração.</a:t>
            </a:r>
            <a:endParaRPr/>
          </a:p>
        </p:txBody>
      </p:sp>
      <p:pic>
        <p:nvPicPr>
          <p:cNvPr descr="image.png" id="377" name="Google Shape;377;p3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919287"/>
            <a:ext cx="113347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378" name="Google Shape;378;p39"/>
          <p:cNvSpPr txBox="1"/>
          <p:nvPr/>
        </p:nvSpPr>
        <p:spPr>
          <a:xfrm>
            <a:off x="809625" y="571500"/>
            <a:ext cx="11351418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E6F1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MAPEAMENTO FRACTAL</a:t>
            </a:r>
            <a:endParaRPr/>
          </a:p>
        </p:txBody>
      </p:sp>
      <p:sp>
        <p:nvSpPr>
          <p:cNvPr id="379" name="Google Shape;379;p39"/>
          <p:cNvSpPr/>
          <p:nvPr/>
        </p:nvSpPr>
        <p:spPr>
          <a:xfrm>
            <a:off x="571500" y="571500"/>
            <a:ext cx="57150" cy="5334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383" name="Shape 3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384" name="Google Shape;384;p4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385" name="Google Shape;385;p40"/>
          <p:cNvSpPr/>
          <p:nvPr/>
        </p:nvSpPr>
        <p:spPr>
          <a:xfrm>
            <a:off x="571500" y="2343150"/>
            <a:ext cx="11049000" cy="3133725"/>
          </a:xfrm>
          <a:prstGeom prst="roundRect">
            <a:avLst>
              <a:gd fmla="val 0" name="adj"/>
            </a:avLst>
          </a:prstGeom>
          <a:solidFill>
            <a:srgbClr val="112240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386" name="Google Shape;386;p40"/>
          <p:cNvGraphicFramePr/>
          <p:nvPr/>
        </p:nvGraphicFramePr>
        <p:xfrm>
          <a:off x="571500" y="23431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{D2C50AD4-4F8E-4888-9A1D-92DDF24FBFF8}</a:tableStyleId>
              </a:tblPr>
              <a:tblGrid>
                <a:gridCol w="3619200"/>
                <a:gridCol w="2295075"/>
                <a:gridCol w="2280350"/>
                <a:gridCol w="2854375"/>
              </a:tblGrid>
              <a:tr h="522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64FFD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Objeto Fractal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335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64FFD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N (Cópias)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335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64FFD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s (Escala)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33554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500" u="none" cap="none" strike="noStrike">
                          <a:solidFill>
                            <a:srgbClr val="64FFDA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Dimensão (D)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233554"/>
                    </a:solidFill>
                  </a:tcPr>
                </a:tc>
              </a:tr>
              <a:tr h="522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CD6F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Conjunto de Cantor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CD6F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CD6F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CD6F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0,6309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2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CD6F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Curva de Koch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CD6F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4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CD6F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CD6F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1,2618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2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CD6F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Triângulo de Sierpinski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CD6F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CD6F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CD6F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1,5850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2275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CD6F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Tapete de Sierpinski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CD6F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CD6F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CD6F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1,8928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223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CD6F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Esponja de Menger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CD6F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CD6F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3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350" u="none" cap="none" strike="noStrike">
                          <a:solidFill>
                            <a:srgbClr val="CCD6F6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2,7268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387" name="Google Shape;387;p40"/>
          <p:cNvSpPr/>
          <p:nvPr/>
        </p:nvSpPr>
        <p:spPr>
          <a:xfrm>
            <a:off x="571500" y="3443287"/>
            <a:ext cx="3619202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8" name="Google Shape;388;p40"/>
          <p:cNvSpPr/>
          <p:nvPr/>
        </p:nvSpPr>
        <p:spPr>
          <a:xfrm>
            <a:off x="4190702" y="3443287"/>
            <a:ext cx="2295078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9" name="Google Shape;389;p40"/>
          <p:cNvSpPr/>
          <p:nvPr/>
        </p:nvSpPr>
        <p:spPr>
          <a:xfrm>
            <a:off x="6485780" y="3443287"/>
            <a:ext cx="2280344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0" name="Google Shape;390;p40"/>
          <p:cNvSpPr/>
          <p:nvPr/>
        </p:nvSpPr>
        <p:spPr>
          <a:xfrm>
            <a:off x="8766125" y="3443287"/>
            <a:ext cx="2854374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1" name="Google Shape;391;p40"/>
          <p:cNvSpPr/>
          <p:nvPr/>
        </p:nvSpPr>
        <p:spPr>
          <a:xfrm>
            <a:off x="571500" y="3948112"/>
            <a:ext cx="3619202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2" name="Google Shape;392;p40"/>
          <p:cNvSpPr/>
          <p:nvPr/>
        </p:nvSpPr>
        <p:spPr>
          <a:xfrm>
            <a:off x="4190702" y="3948112"/>
            <a:ext cx="2295078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3" name="Google Shape;393;p40"/>
          <p:cNvSpPr/>
          <p:nvPr/>
        </p:nvSpPr>
        <p:spPr>
          <a:xfrm>
            <a:off x="6485780" y="3948112"/>
            <a:ext cx="2280344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40"/>
          <p:cNvSpPr/>
          <p:nvPr/>
        </p:nvSpPr>
        <p:spPr>
          <a:xfrm>
            <a:off x="8766125" y="3948112"/>
            <a:ext cx="2854374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5" name="Google Shape;395;p40"/>
          <p:cNvSpPr/>
          <p:nvPr/>
        </p:nvSpPr>
        <p:spPr>
          <a:xfrm>
            <a:off x="571500" y="4452937"/>
            <a:ext cx="3619202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6" name="Google Shape;396;p40"/>
          <p:cNvSpPr/>
          <p:nvPr/>
        </p:nvSpPr>
        <p:spPr>
          <a:xfrm>
            <a:off x="4190702" y="4452937"/>
            <a:ext cx="2295078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7" name="Google Shape;397;p40"/>
          <p:cNvSpPr/>
          <p:nvPr/>
        </p:nvSpPr>
        <p:spPr>
          <a:xfrm>
            <a:off x="6485780" y="4452937"/>
            <a:ext cx="2280344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8" name="Google Shape;398;p40"/>
          <p:cNvSpPr/>
          <p:nvPr/>
        </p:nvSpPr>
        <p:spPr>
          <a:xfrm>
            <a:off x="8766125" y="4452937"/>
            <a:ext cx="2854374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9" name="Google Shape;399;p40"/>
          <p:cNvSpPr/>
          <p:nvPr/>
        </p:nvSpPr>
        <p:spPr>
          <a:xfrm>
            <a:off x="571500" y="4957762"/>
            <a:ext cx="3619202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0" name="Google Shape;400;p40"/>
          <p:cNvSpPr/>
          <p:nvPr/>
        </p:nvSpPr>
        <p:spPr>
          <a:xfrm>
            <a:off x="4190702" y="4957762"/>
            <a:ext cx="2295078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1" name="Google Shape;401;p40"/>
          <p:cNvSpPr/>
          <p:nvPr/>
        </p:nvSpPr>
        <p:spPr>
          <a:xfrm>
            <a:off x="6485780" y="4957762"/>
            <a:ext cx="2280344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2" name="Google Shape;402;p40"/>
          <p:cNvSpPr/>
          <p:nvPr/>
        </p:nvSpPr>
        <p:spPr>
          <a:xfrm>
            <a:off x="8766125" y="4957762"/>
            <a:ext cx="2854374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3" name="Google Shape;403;p40"/>
          <p:cNvSpPr/>
          <p:nvPr/>
        </p:nvSpPr>
        <p:spPr>
          <a:xfrm>
            <a:off x="571500" y="5462587"/>
            <a:ext cx="3619202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40"/>
          <p:cNvSpPr/>
          <p:nvPr/>
        </p:nvSpPr>
        <p:spPr>
          <a:xfrm>
            <a:off x="4190702" y="5462587"/>
            <a:ext cx="2295078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5" name="Google Shape;405;p40"/>
          <p:cNvSpPr/>
          <p:nvPr/>
        </p:nvSpPr>
        <p:spPr>
          <a:xfrm>
            <a:off x="6485780" y="5462587"/>
            <a:ext cx="2280344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6" name="Google Shape;406;p40"/>
          <p:cNvSpPr/>
          <p:nvPr/>
        </p:nvSpPr>
        <p:spPr>
          <a:xfrm>
            <a:off x="8766125" y="5462587"/>
            <a:ext cx="2854374" cy="9525"/>
          </a:xfrm>
          <a:prstGeom prst="rect">
            <a:avLst/>
          </a:prstGeom>
          <a:solidFill>
            <a:srgbClr val="233554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7" name="Google Shape;407;p40"/>
          <p:cNvSpPr txBox="1"/>
          <p:nvPr/>
        </p:nvSpPr>
        <p:spPr>
          <a:xfrm>
            <a:off x="809625" y="571500"/>
            <a:ext cx="11351418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E6F1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TABELA DE COMPARAÇÃO TÉCNICA</a:t>
            </a:r>
            <a:endParaRPr/>
          </a:p>
        </p:txBody>
      </p:sp>
      <p:sp>
        <p:nvSpPr>
          <p:cNvPr id="408" name="Google Shape;408;p40"/>
          <p:cNvSpPr/>
          <p:nvPr/>
        </p:nvSpPr>
        <p:spPr>
          <a:xfrm>
            <a:off x="571500" y="571500"/>
            <a:ext cx="57150" cy="5334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13" name="Google Shape;413;p4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14" name="Google Shape;414;p41"/>
          <p:cNvSpPr/>
          <p:nvPr/>
        </p:nvSpPr>
        <p:spPr>
          <a:xfrm>
            <a:off x="5619750" y="2700337"/>
            <a:ext cx="952500" cy="381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5" name="Google Shape;415;p41"/>
          <p:cNvSpPr txBox="1"/>
          <p:nvPr/>
        </p:nvSpPr>
        <p:spPr>
          <a:xfrm>
            <a:off x="295275" y="3024187"/>
            <a:ext cx="11601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64FFD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IV. Além da Matemática</a:t>
            </a:r>
            <a:endParaRPr/>
          </a:p>
        </p:txBody>
      </p:sp>
      <p:sp>
        <p:nvSpPr>
          <p:cNvPr id="416" name="Google Shape;416;p41"/>
          <p:cNvSpPr txBox="1"/>
          <p:nvPr/>
        </p:nvSpPr>
        <p:spPr>
          <a:xfrm>
            <a:off x="571500" y="4129087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Como estas estruturas fundamentam a tecnologia e o design moderno.</a:t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420" name="Shape 4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21" name="Google Shape;421;p4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22" name="Google Shape;422;p4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381750" y="1909762"/>
            <a:ext cx="5238750" cy="40005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42"/>
          <p:cNvSpPr txBox="1"/>
          <p:nvPr/>
        </p:nvSpPr>
        <p:spPr>
          <a:xfrm>
            <a:off x="571500" y="1909762"/>
            <a:ext cx="550068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E6F1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Antenas Fractais</a:t>
            </a:r>
            <a:endParaRPr/>
          </a:p>
        </p:txBody>
      </p:sp>
      <p:sp>
        <p:nvSpPr>
          <p:cNvPr id="424" name="Google Shape;424;p42"/>
          <p:cNvSpPr txBox="1"/>
          <p:nvPr/>
        </p:nvSpPr>
        <p:spPr>
          <a:xfrm>
            <a:off x="571500" y="2147887"/>
            <a:ext cx="523875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Utilizam a borda infinita para operar em múltiplas frequências ocupando um espaço físico mínimo (Ex: Smartphones).</a:t>
            </a:r>
            <a:endParaRPr/>
          </a:p>
        </p:txBody>
      </p:sp>
      <p:pic>
        <p:nvPicPr>
          <p:cNvPr descr="image.png" id="425" name="Google Shape;425;p42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91275" y="1919287"/>
            <a:ext cx="1343025" cy="180975"/>
          </a:xfrm>
          <a:prstGeom prst="rect">
            <a:avLst/>
          </a:prstGeom>
          <a:noFill/>
          <a:ln>
            <a:noFill/>
          </a:ln>
        </p:spPr>
      </p:pic>
      <p:sp>
        <p:nvSpPr>
          <p:cNvPr id="426" name="Google Shape;426;p42"/>
          <p:cNvSpPr txBox="1"/>
          <p:nvPr/>
        </p:nvSpPr>
        <p:spPr>
          <a:xfrm>
            <a:off x="809625" y="571500"/>
            <a:ext cx="11351418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E6F1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APLICAÇÕES: ENGENHARIA</a:t>
            </a:r>
            <a:endParaRPr/>
          </a:p>
        </p:txBody>
      </p:sp>
      <p:sp>
        <p:nvSpPr>
          <p:cNvPr id="427" name="Google Shape;427;p42"/>
          <p:cNvSpPr/>
          <p:nvPr/>
        </p:nvSpPr>
        <p:spPr>
          <a:xfrm>
            <a:off x="571500" y="571500"/>
            <a:ext cx="57150" cy="5334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32" name="Google Shape;432;p4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3" name="Google Shape;433;p4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909762"/>
            <a:ext cx="5238750" cy="40005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34" name="Google Shape;434;p4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1919287"/>
            <a:ext cx="5219700" cy="3981450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43"/>
          <p:cNvSpPr txBox="1"/>
          <p:nvPr/>
        </p:nvSpPr>
        <p:spPr>
          <a:xfrm>
            <a:off x="6381750" y="1909762"/>
            <a:ext cx="5500687" cy="2381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404" u="none" cap="none" strike="noStrike">
                <a:solidFill>
                  <a:srgbClr val="E6F1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Simulação de Terrenos</a:t>
            </a:r>
            <a:endParaRPr/>
          </a:p>
        </p:txBody>
      </p:sp>
      <p:sp>
        <p:nvSpPr>
          <p:cNvPr id="436" name="Google Shape;436;p43"/>
          <p:cNvSpPr txBox="1"/>
          <p:nvPr/>
        </p:nvSpPr>
        <p:spPr>
          <a:xfrm>
            <a:off x="6381750" y="2147887"/>
            <a:ext cx="5238750" cy="9429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Nuvens, montanhas e texturas em filmes e jogos eletrônicos são gerados através de algoritmos fractais de ruído e recursão.</a:t>
            </a:r>
            <a:endParaRPr/>
          </a:p>
        </p:txBody>
      </p:sp>
      <p:sp>
        <p:nvSpPr>
          <p:cNvPr id="437" name="Google Shape;437;p43"/>
          <p:cNvSpPr txBox="1"/>
          <p:nvPr/>
        </p:nvSpPr>
        <p:spPr>
          <a:xfrm>
            <a:off x="809625" y="571500"/>
            <a:ext cx="11351418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E6F1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APLICAÇÕES: CGI E NATUREZA</a:t>
            </a:r>
            <a:endParaRPr/>
          </a:p>
        </p:txBody>
      </p:sp>
      <p:sp>
        <p:nvSpPr>
          <p:cNvPr id="438" name="Google Shape;438;p43"/>
          <p:cNvSpPr/>
          <p:nvPr/>
        </p:nvSpPr>
        <p:spPr>
          <a:xfrm>
            <a:off x="571500" y="571500"/>
            <a:ext cx="57150" cy="5334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442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43" name="Google Shape;443;p4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444" name="Google Shape;444;p4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728912"/>
            <a:ext cx="11049000" cy="2362200"/>
          </a:xfrm>
          <a:prstGeom prst="rect">
            <a:avLst/>
          </a:prstGeom>
          <a:noFill/>
          <a:ln>
            <a:noFill/>
          </a:ln>
        </p:spPr>
      </p:pic>
      <p:sp>
        <p:nvSpPr>
          <p:cNvPr id="445" name="Google Shape;445;p44"/>
          <p:cNvSpPr txBox="1"/>
          <p:nvPr/>
        </p:nvSpPr>
        <p:spPr>
          <a:xfrm>
            <a:off x="1066800" y="3224212"/>
            <a:ext cx="100584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64FFDA"/>
                </a:solidFill>
                <a:latin typeface="Montserrat"/>
                <a:ea typeface="Montserrat"/>
                <a:cs typeface="Montserrat"/>
                <a:sym typeface="Montserrat"/>
              </a:rPr>
              <a:t>"A matemática é a música da razão."</a:t>
            </a:r>
            <a:endParaRPr/>
          </a:p>
        </p:txBody>
      </p:sp>
      <p:sp>
        <p:nvSpPr>
          <p:cNvPr id="446" name="Google Shape;446;p44"/>
          <p:cNvSpPr txBox="1"/>
          <p:nvPr/>
        </p:nvSpPr>
        <p:spPr>
          <a:xfrm>
            <a:off x="1066800" y="3967162"/>
            <a:ext cx="10058400" cy="628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Fractais nos mostram que a complexidade da natureza não é fruto do acaso, mas de uma ordem infinita operando em regras simples.</a:t>
            </a:r>
            <a:endParaRPr/>
          </a:p>
        </p:txBody>
      </p:sp>
      <p:sp>
        <p:nvSpPr>
          <p:cNvPr id="447" name="Google Shape;447;p44"/>
          <p:cNvSpPr txBox="1"/>
          <p:nvPr/>
        </p:nvSpPr>
        <p:spPr>
          <a:xfrm>
            <a:off x="809625" y="571500"/>
            <a:ext cx="11351418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E6F1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CONCLUSÃO</a:t>
            </a:r>
            <a:endParaRPr/>
          </a:p>
        </p:txBody>
      </p:sp>
      <p:sp>
        <p:nvSpPr>
          <p:cNvPr id="448" name="Google Shape;448;p44"/>
          <p:cNvSpPr/>
          <p:nvPr/>
        </p:nvSpPr>
        <p:spPr>
          <a:xfrm>
            <a:off x="571500" y="571500"/>
            <a:ext cx="57150" cy="5334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452" name="Shape 4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53" name="Google Shape;453;p4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54" name="Google Shape;454;p45"/>
          <p:cNvSpPr txBox="1"/>
          <p:nvPr/>
        </p:nvSpPr>
        <p:spPr>
          <a:xfrm>
            <a:off x="295275" y="2252662"/>
            <a:ext cx="11601450" cy="838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64FFDA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Dúvidas?</a:t>
            </a:r>
            <a:endParaRPr/>
          </a:p>
        </p:txBody>
      </p:sp>
      <p:sp>
        <p:nvSpPr>
          <p:cNvPr id="455" name="Google Shape;455;p45"/>
          <p:cNvSpPr txBox="1"/>
          <p:nvPr/>
        </p:nvSpPr>
        <p:spPr>
          <a:xfrm>
            <a:off x="571500" y="3471862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64FFDA"/>
                </a:solidFill>
                <a:latin typeface="Montserrat"/>
                <a:ea typeface="Montserrat"/>
                <a:cs typeface="Montserrat"/>
                <a:sym typeface="Montserrat"/>
              </a:rPr>
              <a:t>filipelorenzato77@gmail.com | pucminas.br</a:t>
            </a:r>
            <a:endParaRPr/>
          </a:p>
        </p:txBody>
      </p:sp>
      <p:sp>
        <p:nvSpPr>
          <p:cNvPr id="456" name="Google Shape;456;p45"/>
          <p:cNvSpPr txBox="1"/>
          <p:nvPr/>
        </p:nvSpPr>
        <p:spPr>
          <a:xfrm>
            <a:off x="571500" y="4291012"/>
            <a:ext cx="11049000" cy="3143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65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Agradeço imensamente pela sua atenção!</a:t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460" name="Shape 4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461" name="Google Shape;461;p4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46"/>
          <p:cNvSpPr/>
          <p:nvPr/>
        </p:nvSpPr>
        <p:spPr>
          <a:xfrm>
            <a:off x="571500" y="153352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3" name="Google Shape;463;p46"/>
          <p:cNvSpPr/>
          <p:nvPr/>
        </p:nvSpPr>
        <p:spPr>
          <a:xfrm>
            <a:off x="571500" y="230505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4" name="Google Shape;464;p46"/>
          <p:cNvSpPr/>
          <p:nvPr/>
        </p:nvSpPr>
        <p:spPr>
          <a:xfrm>
            <a:off x="571500" y="307657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46"/>
          <p:cNvSpPr/>
          <p:nvPr/>
        </p:nvSpPr>
        <p:spPr>
          <a:xfrm>
            <a:off x="571500" y="3848100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6" name="Google Shape;466;p46"/>
          <p:cNvSpPr/>
          <p:nvPr/>
        </p:nvSpPr>
        <p:spPr>
          <a:xfrm>
            <a:off x="571500" y="4619625"/>
            <a:ext cx="110490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7" name="Google Shape;467;p46"/>
          <p:cNvSpPr/>
          <p:nvPr/>
        </p:nvSpPr>
        <p:spPr>
          <a:xfrm>
            <a:off x="571500" y="22955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8" name="Google Shape;468;p46"/>
          <p:cNvSpPr/>
          <p:nvPr/>
        </p:nvSpPr>
        <p:spPr>
          <a:xfrm>
            <a:off x="571500" y="22955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9" name="Google Shape;469;p46"/>
          <p:cNvSpPr/>
          <p:nvPr/>
        </p:nvSpPr>
        <p:spPr>
          <a:xfrm>
            <a:off x="571500" y="30670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0" name="Google Shape;470;p46"/>
          <p:cNvSpPr/>
          <p:nvPr/>
        </p:nvSpPr>
        <p:spPr>
          <a:xfrm>
            <a:off x="571500" y="306705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1" name="Google Shape;471;p46"/>
          <p:cNvSpPr/>
          <p:nvPr/>
        </p:nvSpPr>
        <p:spPr>
          <a:xfrm>
            <a:off x="571500" y="38385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2" name="Google Shape;472;p46"/>
          <p:cNvSpPr/>
          <p:nvPr/>
        </p:nvSpPr>
        <p:spPr>
          <a:xfrm>
            <a:off x="571500" y="38385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3" name="Google Shape;473;p46"/>
          <p:cNvSpPr/>
          <p:nvPr/>
        </p:nvSpPr>
        <p:spPr>
          <a:xfrm>
            <a:off x="571500" y="46101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4" name="Google Shape;474;p46"/>
          <p:cNvSpPr/>
          <p:nvPr/>
        </p:nvSpPr>
        <p:spPr>
          <a:xfrm>
            <a:off x="571500" y="46101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5" name="Google Shape;475;p46"/>
          <p:cNvSpPr/>
          <p:nvPr/>
        </p:nvSpPr>
        <p:spPr>
          <a:xfrm>
            <a:off x="571500" y="55530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6" name="Google Shape;476;p46"/>
          <p:cNvSpPr/>
          <p:nvPr/>
        </p:nvSpPr>
        <p:spPr>
          <a:xfrm>
            <a:off x="571500" y="555307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477" name="Google Shape;477;p4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76400"/>
            <a:ext cx="1724025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478" name="Google Shape;478;p46"/>
          <p:cNvSpPr txBox="1"/>
          <p:nvPr/>
        </p:nvSpPr>
        <p:spPr>
          <a:xfrm>
            <a:off x="1666875" y="1683543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https://upload.wikimedia.org/wikipedia/commons/8/83/Barnsley_fern_1024x1024.png</a:t>
            </a:r>
            <a:endParaRPr/>
          </a:p>
        </p:txBody>
      </p:sp>
      <p:sp>
        <p:nvSpPr>
          <p:cNvPr id="479" name="Google Shape;479;p46"/>
          <p:cNvSpPr txBox="1"/>
          <p:nvPr/>
        </p:nvSpPr>
        <p:spPr>
          <a:xfrm>
            <a:off x="1666875" y="1916906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Montserrat"/>
                <a:ea typeface="Montserrat"/>
                <a:cs typeface="Montserrat"/>
                <a:sym typeface="Montserrat"/>
              </a:rPr>
              <a:t>en.wikipedia.org</a:t>
            </a:r>
            <a:endParaRPr/>
          </a:p>
        </p:txBody>
      </p:sp>
      <p:pic>
        <p:nvPicPr>
          <p:cNvPr descr="image.png" id="480" name="Google Shape;480;p4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447925"/>
            <a:ext cx="1362075" cy="942975"/>
          </a:xfrm>
          <a:prstGeom prst="rect">
            <a:avLst/>
          </a:prstGeom>
          <a:noFill/>
          <a:ln>
            <a:noFill/>
          </a:ln>
        </p:spPr>
      </p:pic>
      <p:sp>
        <p:nvSpPr>
          <p:cNvPr id="481" name="Google Shape;481;p46"/>
          <p:cNvSpPr txBox="1"/>
          <p:nvPr/>
        </p:nvSpPr>
        <p:spPr>
          <a:xfrm>
            <a:off x="1666875" y="2455068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https://math.bu.edu/DYSYS/chaos-game/sierp-det.GIF</a:t>
            </a:r>
            <a:endParaRPr/>
          </a:p>
        </p:txBody>
      </p:sp>
      <p:sp>
        <p:nvSpPr>
          <p:cNvPr id="482" name="Google Shape;482;p46"/>
          <p:cNvSpPr txBox="1"/>
          <p:nvPr/>
        </p:nvSpPr>
        <p:spPr>
          <a:xfrm>
            <a:off x="1666875" y="2688431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Montserrat"/>
                <a:ea typeface="Montserrat"/>
                <a:cs typeface="Montserrat"/>
                <a:sym typeface="Montserrat"/>
              </a:rPr>
              <a:t>math.bu.edu</a:t>
            </a:r>
            <a:endParaRPr/>
          </a:p>
        </p:txBody>
      </p:sp>
      <p:pic>
        <p:nvPicPr>
          <p:cNvPr descr="image.png" id="483" name="Google Shape;483;p46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2194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84" name="Google Shape;484;p46"/>
          <p:cNvSpPr txBox="1"/>
          <p:nvPr/>
        </p:nvSpPr>
        <p:spPr>
          <a:xfrm>
            <a:off x="1666875" y="3226593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https://thirdspacelearning.com/wp-content/uploads/2021/10/Constructing-Triangles-what-is-card.png</a:t>
            </a:r>
            <a:endParaRPr/>
          </a:p>
        </p:txBody>
      </p:sp>
      <p:sp>
        <p:nvSpPr>
          <p:cNvPr id="485" name="Google Shape;485;p46"/>
          <p:cNvSpPr txBox="1"/>
          <p:nvPr/>
        </p:nvSpPr>
        <p:spPr>
          <a:xfrm>
            <a:off x="1666875" y="3459956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Montserrat"/>
                <a:ea typeface="Montserrat"/>
                <a:cs typeface="Montserrat"/>
                <a:sym typeface="Montserrat"/>
              </a:rPr>
              <a:t>thirdspacelearning.com</a:t>
            </a:r>
            <a:endParaRPr/>
          </a:p>
        </p:txBody>
      </p:sp>
      <p:pic>
        <p:nvPicPr>
          <p:cNvPr descr="image.png" id="486" name="Google Shape;486;p46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3990975"/>
            <a:ext cx="1952625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487" name="Google Shape;487;p46"/>
          <p:cNvSpPr txBox="1"/>
          <p:nvPr/>
        </p:nvSpPr>
        <p:spPr>
          <a:xfrm>
            <a:off x="1666875" y="3998118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https://www.mathzai.com/images/blogs/advanced-sat-math/advanced-sat-math_4.webp</a:t>
            </a:r>
            <a:endParaRPr/>
          </a:p>
        </p:txBody>
      </p:sp>
      <p:sp>
        <p:nvSpPr>
          <p:cNvPr id="488" name="Google Shape;488;p46"/>
          <p:cNvSpPr txBox="1"/>
          <p:nvPr/>
        </p:nvSpPr>
        <p:spPr>
          <a:xfrm>
            <a:off x="1666875" y="4231481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Montserrat"/>
                <a:ea typeface="Montserrat"/>
                <a:cs typeface="Montserrat"/>
                <a:sym typeface="Montserrat"/>
              </a:rPr>
              <a:t>www.mathzai.com</a:t>
            </a:r>
            <a:endParaRPr/>
          </a:p>
        </p:txBody>
      </p:sp>
      <p:pic>
        <p:nvPicPr>
          <p:cNvPr descr="image.png" id="489" name="Google Shape;489;p46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4848225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490" name="Google Shape;490;p46"/>
          <p:cNvSpPr txBox="1"/>
          <p:nvPr/>
        </p:nvSpPr>
        <p:spPr>
          <a:xfrm>
            <a:off x="1666875" y="4762500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https://static.vecteezy.com/system/resources/previews/058/280/989/non_2x/golden-infinity-symbol-shiny-metal-loop-design-concept-art-abstract-cut-out-free-png.png</a:t>
            </a:r>
            <a:endParaRPr/>
          </a:p>
        </p:txBody>
      </p:sp>
      <p:sp>
        <p:nvSpPr>
          <p:cNvPr id="491" name="Google Shape;491;p46"/>
          <p:cNvSpPr txBox="1"/>
          <p:nvPr/>
        </p:nvSpPr>
        <p:spPr>
          <a:xfrm>
            <a:off x="1666875" y="5181600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Montserrat"/>
                <a:ea typeface="Montserrat"/>
                <a:cs typeface="Montserrat"/>
                <a:sym typeface="Montserrat"/>
              </a:rPr>
              <a:t>www.vecteezy.com</a:t>
            </a:r>
            <a:endParaRPr/>
          </a:p>
        </p:txBody>
      </p:sp>
      <p:pic>
        <p:nvPicPr>
          <p:cNvPr descr="image.png" id="492" name="Google Shape;492;p46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571500" y="5705475"/>
            <a:ext cx="1981200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493" name="Google Shape;493;p46"/>
          <p:cNvSpPr txBox="1"/>
          <p:nvPr/>
        </p:nvSpPr>
        <p:spPr>
          <a:xfrm>
            <a:off x="1666875" y="5712618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https://static.vecteezy.com/system/resources/thumbnails/063/473/689/small/close-up-texture-of-swiss-cheese-with-visible-holes-and-creamy-surface-photo.jpg</a:t>
            </a:r>
            <a:endParaRPr/>
          </a:p>
        </p:txBody>
      </p:sp>
      <p:sp>
        <p:nvSpPr>
          <p:cNvPr id="494" name="Google Shape;494;p46"/>
          <p:cNvSpPr txBox="1"/>
          <p:nvPr/>
        </p:nvSpPr>
        <p:spPr>
          <a:xfrm>
            <a:off x="1666875" y="5945981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Montserrat"/>
                <a:ea typeface="Montserrat"/>
                <a:cs typeface="Montserrat"/>
                <a:sym typeface="Montserrat"/>
              </a:rPr>
              <a:t>www.vecteezy.com</a:t>
            </a:r>
            <a:endParaRPr/>
          </a:p>
        </p:txBody>
      </p:sp>
      <p:sp>
        <p:nvSpPr>
          <p:cNvPr id="495" name="Google Shape;495;p46"/>
          <p:cNvSpPr txBox="1"/>
          <p:nvPr/>
        </p:nvSpPr>
        <p:spPr>
          <a:xfrm>
            <a:off x="809625" y="571500"/>
            <a:ext cx="11351418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E6F1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IMAGE SOURCES</a:t>
            </a:r>
            <a:endParaRPr/>
          </a:p>
        </p:txBody>
      </p:sp>
      <p:sp>
        <p:nvSpPr>
          <p:cNvPr id="496" name="Google Shape;496;p46"/>
          <p:cNvSpPr/>
          <p:nvPr/>
        </p:nvSpPr>
        <p:spPr>
          <a:xfrm>
            <a:off x="571500" y="571500"/>
            <a:ext cx="57150" cy="5334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500" name="Shape 5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01" name="Google Shape;501;p4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02" name="Google Shape;502;p47"/>
          <p:cNvSpPr/>
          <p:nvPr/>
        </p:nvSpPr>
        <p:spPr>
          <a:xfrm>
            <a:off x="571500" y="153352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3" name="Google Shape;503;p47"/>
          <p:cNvSpPr/>
          <p:nvPr/>
        </p:nvSpPr>
        <p:spPr>
          <a:xfrm>
            <a:off x="571500" y="2305050"/>
            <a:ext cx="110490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4" name="Google Shape;504;p47"/>
          <p:cNvSpPr/>
          <p:nvPr/>
        </p:nvSpPr>
        <p:spPr>
          <a:xfrm>
            <a:off x="571500" y="324802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5" name="Google Shape;505;p47"/>
          <p:cNvSpPr/>
          <p:nvPr/>
        </p:nvSpPr>
        <p:spPr>
          <a:xfrm>
            <a:off x="571500" y="4019550"/>
            <a:ext cx="110490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6" name="Google Shape;506;p47"/>
          <p:cNvSpPr/>
          <p:nvPr/>
        </p:nvSpPr>
        <p:spPr>
          <a:xfrm>
            <a:off x="571500" y="4962525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7" name="Google Shape;507;p47"/>
          <p:cNvSpPr/>
          <p:nvPr/>
        </p:nvSpPr>
        <p:spPr>
          <a:xfrm>
            <a:off x="571500" y="22955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8" name="Google Shape;508;p47"/>
          <p:cNvSpPr/>
          <p:nvPr/>
        </p:nvSpPr>
        <p:spPr>
          <a:xfrm>
            <a:off x="571500" y="22955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9" name="Google Shape;509;p47"/>
          <p:cNvSpPr/>
          <p:nvPr/>
        </p:nvSpPr>
        <p:spPr>
          <a:xfrm>
            <a:off x="571500" y="32385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0" name="Google Shape;510;p47"/>
          <p:cNvSpPr/>
          <p:nvPr/>
        </p:nvSpPr>
        <p:spPr>
          <a:xfrm>
            <a:off x="571500" y="32385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1" name="Google Shape;511;p47"/>
          <p:cNvSpPr/>
          <p:nvPr/>
        </p:nvSpPr>
        <p:spPr>
          <a:xfrm>
            <a:off x="571500" y="40100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2" name="Google Shape;512;p47"/>
          <p:cNvSpPr/>
          <p:nvPr/>
        </p:nvSpPr>
        <p:spPr>
          <a:xfrm>
            <a:off x="571500" y="40100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3" name="Google Shape;513;p47"/>
          <p:cNvSpPr/>
          <p:nvPr/>
        </p:nvSpPr>
        <p:spPr>
          <a:xfrm>
            <a:off x="571500" y="49530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4" name="Google Shape;514;p47"/>
          <p:cNvSpPr/>
          <p:nvPr/>
        </p:nvSpPr>
        <p:spPr>
          <a:xfrm>
            <a:off x="571500" y="4953000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5" name="Google Shape;515;p47"/>
          <p:cNvSpPr/>
          <p:nvPr/>
        </p:nvSpPr>
        <p:spPr>
          <a:xfrm>
            <a:off x="571500" y="57245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6" name="Google Shape;516;p47"/>
          <p:cNvSpPr/>
          <p:nvPr/>
        </p:nvSpPr>
        <p:spPr>
          <a:xfrm>
            <a:off x="571500" y="5724525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517" name="Google Shape;517;p4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6764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18" name="Google Shape;518;p47"/>
          <p:cNvSpPr txBox="1"/>
          <p:nvPr/>
        </p:nvSpPr>
        <p:spPr>
          <a:xfrm>
            <a:off x="1666875" y="1683543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https://i.sstatic.net/iCBX7.png</a:t>
            </a:r>
            <a:endParaRPr/>
          </a:p>
        </p:txBody>
      </p:sp>
      <p:sp>
        <p:nvSpPr>
          <p:cNvPr id="519" name="Google Shape;519;p47"/>
          <p:cNvSpPr txBox="1"/>
          <p:nvPr/>
        </p:nvSpPr>
        <p:spPr>
          <a:xfrm>
            <a:off x="1666875" y="1916906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Montserrat"/>
                <a:ea typeface="Montserrat"/>
                <a:cs typeface="Montserrat"/>
                <a:sym typeface="Montserrat"/>
              </a:rPr>
              <a:t>math.stackexchange.com</a:t>
            </a:r>
            <a:endParaRPr/>
          </a:p>
        </p:txBody>
      </p:sp>
      <p:pic>
        <p:nvPicPr>
          <p:cNvPr descr="image.png" id="520" name="Google Shape;520;p4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533650"/>
            <a:ext cx="2076450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521" name="Google Shape;521;p47"/>
          <p:cNvSpPr txBox="1"/>
          <p:nvPr/>
        </p:nvSpPr>
        <p:spPr>
          <a:xfrm>
            <a:off x="1666875" y="2447925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https://thumbs.dreamstime.com/b/abstract-visualization-order-chaos-transition-illustration-depicts-visual-metaphor-where-highly-structured-geometric-435179483.jpg</a:t>
            </a:r>
            <a:endParaRPr/>
          </a:p>
        </p:txBody>
      </p:sp>
      <p:sp>
        <p:nvSpPr>
          <p:cNvPr id="522" name="Google Shape;522;p47"/>
          <p:cNvSpPr txBox="1"/>
          <p:nvPr/>
        </p:nvSpPr>
        <p:spPr>
          <a:xfrm>
            <a:off x="1666875" y="2867025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Montserrat"/>
                <a:ea typeface="Montserrat"/>
                <a:cs typeface="Montserrat"/>
                <a:sym typeface="Montserrat"/>
              </a:rPr>
              <a:t>es.dreamstime.com</a:t>
            </a:r>
            <a:endParaRPr/>
          </a:p>
        </p:txBody>
      </p:sp>
      <p:pic>
        <p:nvPicPr>
          <p:cNvPr descr="image.png" id="523" name="Google Shape;523;p47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39090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24" name="Google Shape;524;p47"/>
          <p:cNvSpPr txBox="1"/>
          <p:nvPr/>
        </p:nvSpPr>
        <p:spPr>
          <a:xfrm>
            <a:off x="1666875" y="3398043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https://larryriddle.agnesscott.org/ifs/ksnow/image861.gif</a:t>
            </a:r>
            <a:endParaRPr/>
          </a:p>
        </p:txBody>
      </p:sp>
      <p:sp>
        <p:nvSpPr>
          <p:cNvPr id="525" name="Google Shape;525;p47"/>
          <p:cNvSpPr txBox="1"/>
          <p:nvPr/>
        </p:nvSpPr>
        <p:spPr>
          <a:xfrm>
            <a:off x="1666875" y="3631406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Montserrat"/>
                <a:ea typeface="Montserrat"/>
                <a:cs typeface="Montserrat"/>
                <a:sym typeface="Montserrat"/>
              </a:rPr>
              <a:t>larryriddle.agnesscott.org</a:t>
            </a:r>
            <a:endParaRPr/>
          </a:p>
        </p:txBody>
      </p:sp>
      <p:pic>
        <p:nvPicPr>
          <p:cNvPr descr="image.png" id="526" name="Google Shape;526;p47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248150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27" name="Google Shape;527;p47"/>
          <p:cNvSpPr txBox="1"/>
          <p:nvPr/>
        </p:nvSpPr>
        <p:spPr>
          <a:xfrm>
            <a:off x="1666875" y="4162425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https://preview.redd.it/how-can-we-resolve-the-coastline-paradox-v0-yqrjgr4tdm0g1.jpeg?width=640&amp;crop=smart&amp;auto=webp&amp;s=42b2eb30d628c078f4422bcd38506f135544e4a9</a:t>
            </a:r>
            <a:endParaRPr/>
          </a:p>
        </p:txBody>
      </p:sp>
      <p:sp>
        <p:nvSpPr>
          <p:cNvPr id="528" name="Google Shape;528;p47"/>
          <p:cNvSpPr txBox="1"/>
          <p:nvPr/>
        </p:nvSpPr>
        <p:spPr>
          <a:xfrm>
            <a:off x="1666875" y="4581525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Montserrat"/>
                <a:ea typeface="Montserrat"/>
                <a:cs typeface="Montserrat"/>
                <a:sym typeface="Montserrat"/>
              </a:rPr>
              <a:t>www.reddit.com</a:t>
            </a:r>
            <a:endParaRPr/>
          </a:p>
        </p:txBody>
      </p:sp>
      <p:pic>
        <p:nvPicPr>
          <p:cNvPr descr="image.png" id="529" name="Google Shape;529;p4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5105400"/>
            <a:ext cx="1724025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530" name="Google Shape;530;p47"/>
          <p:cNvSpPr txBox="1"/>
          <p:nvPr/>
        </p:nvSpPr>
        <p:spPr>
          <a:xfrm>
            <a:off x="1666875" y="5112543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https://upload.wikimedia.org/wikipedia/commons/0/0e/Georg_Cantor_%28Portr%C3%A4t%29.jpg</a:t>
            </a:r>
            <a:endParaRPr/>
          </a:p>
        </p:txBody>
      </p:sp>
      <p:sp>
        <p:nvSpPr>
          <p:cNvPr id="531" name="Google Shape;531;p47"/>
          <p:cNvSpPr txBox="1"/>
          <p:nvPr/>
        </p:nvSpPr>
        <p:spPr>
          <a:xfrm>
            <a:off x="1666875" y="5345906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Montserrat"/>
                <a:ea typeface="Montserrat"/>
                <a:cs typeface="Montserrat"/>
                <a:sym typeface="Montserrat"/>
              </a:rPr>
              <a:t>en.wikipedia.org</a:t>
            </a:r>
            <a:endParaRPr/>
          </a:p>
        </p:txBody>
      </p:sp>
      <p:pic>
        <p:nvPicPr>
          <p:cNvPr descr="image.png" id="532" name="Google Shape;532;p47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5876925"/>
            <a:ext cx="1724025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533" name="Google Shape;533;p47"/>
          <p:cNvSpPr txBox="1"/>
          <p:nvPr/>
        </p:nvSpPr>
        <p:spPr>
          <a:xfrm>
            <a:off x="1666875" y="5884068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https://upload.wikimedia.org/wikipedia/commons/thumb/1/1a/Cantor.png/250px-Cantor.png</a:t>
            </a:r>
            <a:endParaRPr/>
          </a:p>
        </p:txBody>
      </p:sp>
      <p:sp>
        <p:nvSpPr>
          <p:cNvPr id="534" name="Google Shape;534;p47"/>
          <p:cNvSpPr txBox="1"/>
          <p:nvPr/>
        </p:nvSpPr>
        <p:spPr>
          <a:xfrm>
            <a:off x="1666875" y="6117431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Montserrat"/>
                <a:ea typeface="Montserrat"/>
                <a:cs typeface="Montserrat"/>
                <a:sym typeface="Montserrat"/>
              </a:rPr>
              <a:t>en.wikipedia.org</a:t>
            </a:r>
            <a:endParaRPr/>
          </a:p>
        </p:txBody>
      </p:sp>
      <p:sp>
        <p:nvSpPr>
          <p:cNvPr id="535" name="Google Shape;535;p47"/>
          <p:cNvSpPr txBox="1"/>
          <p:nvPr/>
        </p:nvSpPr>
        <p:spPr>
          <a:xfrm>
            <a:off x="809625" y="571500"/>
            <a:ext cx="11351418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E6F1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IMAGE SOURCES</a:t>
            </a:r>
            <a:endParaRPr/>
          </a:p>
        </p:txBody>
      </p:sp>
      <p:sp>
        <p:nvSpPr>
          <p:cNvPr id="536" name="Google Shape;536;p47"/>
          <p:cNvSpPr/>
          <p:nvPr/>
        </p:nvSpPr>
        <p:spPr>
          <a:xfrm>
            <a:off x="571500" y="571500"/>
            <a:ext cx="57150" cy="5334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A192F"/>
        </a:solidFill>
      </p:bgPr>
    </p:bg>
    <p:spTree>
      <p:nvGrpSpPr>
        <p:cNvPr id="540" name="Shape 5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541" name="Google Shape;541;p4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542" name="Google Shape;542;p48"/>
          <p:cNvSpPr/>
          <p:nvPr/>
        </p:nvSpPr>
        <p:spPr>
          <a:xfrm>
            <a:off x="571500" y="1900237"/>
            <a:ext cx="11049000" cy="94297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3" name="Google Shape;543;p48"/>
          <p:cNvSpPr/>
          <p:nvPr/>
        </p:nvSpPr>
        <p:spPr>
          <a:xfrm>
            <a:off x="571500" y="2843212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4" name="Google Shape;544;p48"/>
          <p:cNvSpPr/>
          <p:nvPr/>
        </p:nvSpPr>
        <p:spPr>
          <a:xfrm>
            <a:off x="571500" y="3614737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5" name="Google Shape;545;p48"/>
          <p:cNvSpPr/>
          <p:nvPr/>
        </p:nvSpPr>
        <p:spPr>
          <a:xfrm>
            <a:off x="571500" y="4386262"/>
            <a:ext cx="11049000" cy="7715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6" name="Google Shape;546;p48"/>
          <p:cNvSpPr/>
          <p:nvPr/>
        </p:nvSpPr>
        <p:spPr>
          <a:xfrm>
            <a:off x="571500" y="28336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7" name="Google Shape;547;p48"/>
          <p:cNvSpPr/>
          <p:nvPr/>
        </p:nvSpPr>
        <p:spPr>
          <a:xfrm>
            <a:off x="571500" y="283368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8" name="Google Shape;548;p48"/>
          <p:cNvSpPr/>
          <p:nvPr/>
        </p:nvSpPr>
        <p:spPr>
          <a:xfrm>
            <a:off x="571500" y="36052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9" name="Google Shape;549;p48"/>
          <p:cNvSpPr/>
          <p:nvPr/>
        </p:nvSpPr>
        <p:spPr>
          <a:xfrm>
            <a:off x="571500" y="360521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0" name="Google Shape;550;p48"/>
          <p:cNvSpPr/>
          <p:nvPr/>
        </p:nvSpPr>
        <p:spPr>
          <a:xfrm>
            <a:off x="571500" y="43767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1" name="Google Shape;551;p48"/>
          <p:cNvSpPr/>
          <p:nvPr/>
        </p:nvSpPr>
        <p:spPr>
          <a:xfrm>
            <a:off x="571500" y="4376737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2" name="Google Shape;552;p48"/>
          <p:cNvSpPr/>
          <p:nvPr/>
        </p:nvSpPr>
        <p:spPr>
          <a:xfrm>
            <a:off x="571500" y="51482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3" name="Google Shape;553;p48"/>
          <p:cNvSpPr/>
          <p:nvPr/>
        </p:nvSpPr>
        <p:spPr>
          <a:xfrm>
            <a:off x="571500" y="5148262"/>
            <a:ext cx="11049000" cy="9525"/>
          </a:xfrm>
          <a:prstGeom prst="rect">
            <a:avLst/>
          </a:prstGeom>
          <a:solidFill>
            <a:srgbClr val="757575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554" name="Google Shape;554;p4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2128837"/>
            <a:ext cx="2419350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555" name="Google Shape;555;p48"/>
          <p:cNvSpPr txBox="1"/>
          <p:nvPr/>
        </p:nvSpPr>
        <p:spPr>
          <a:xfrm>
            <a:off x="1666875" y="2043112"/>
            <a:ext cx="9953625" cy="3714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https://substackcdn.com/image/fetch/$s_!T1dP!,w_1456,c_limit,f_auto,q_auto:good,fl_progressive:steep/https%3A%2F%2Fsubstack-post-media.s3.amazonaws.com%2Fpublic%2Fimages%2F89ba4a39-5988-41fd-ae38-9e83bf8162c9_798x567.png</a:t>
            </a:r>
            <a:endParaRPr/>
          </a:p>
        </p:txBody>
      </p:sp>
      <p:sp>
        <p:nvSpPr>
          <p:cNvPr id="556" name="Google Shape;556;p48"/>
          <p:cNvSpPr txBox="1"/>
          <p:nvPr/>
        </p:nvSpPr>
        <p:spPr>
          <a:xfrm>
            <a:off x="1666875" y="2462212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Montserrat"/>
                <a:ea typeface="Montserrat"/>
                <a:cs typeface="Montserrat"/>
                <a:sym typeface="Montserrat"/>
              </a:rPr>
              <a:t>www.infinitelymore.xyz</a:t>
            </a:r>
            <a:endParaRPr/>
          </a:p>
        </p:txBody>
      </p:sp>
      <p:pic>
        <p:nvPicPr>
          <p:cNvPr descr="image.png" id="557" name="Google Shape;557;p4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986087"/>
            <a:ext cx="2105025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558" name="Google Shape;558;p48"/>
          <p:cNvSpPr txBox="1"/>
          <p:nvPr/>
        </p:nvSpPr>
        <p:spPr>
          <a:xfrm>
            <a:off x="1666875" y="2993231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x-raw-image:///49c9bec01b156c28bcaf771acc471b54f46e83636c8c7bf41ced61500e7935cb</a:t>
            </a:r>
            <a:endParaRPr/>
          </a:p>
        </p:txBody>
      </p:sp>
      <p:sp>
        <p:nvSpPr>
          <p:cNvPr id="559" name="Google Shape;559;p48"/>
          <p:cNvSpPr txBox="1"/>
          <p:nvPr/>
        </p:nvSpPr>
        <p:spPr>
          <a:xfrm>
            <a:off x="1666875" y="3226593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Montserrat"/>
                <a:ea typeface="Montserrat"/>
                <a:cs typeface="Montserrat"/>
                <a:sym typeface="Montserrat"/>
              </a:rPr>
              <a:t>hajim.rochester.edu</a:t>
            </a:r>
            <a:endParaRPr/>
          </a:p>
        </p:txBody>
      </p:sp>
      <p:pic>
        <p:nvPicPr>
          <p:cNvPr descr="image.png" id="560" name="Google Shape;560;p4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3757612"/>
            <a:ext cx="857250" cy="476250"/>
          </a:xfrm>
          <a:prstGeom prst="rect">
            <a:avLst/>
          </a:prstGeom>
          <a:noFill/>
          <a:ln>
            <a:noFill/>
          </a:ln>
        </p:spPr>
      </p:pic>
      <p:sp>
        <p:nvSpPr>
          <p:cNvPr id="561" name="Google Shape;561;p48"/>
          <p:cNvSpPr txBox="1"/>
          <p:nvPr/>
        </p:nvSpPr>
        <p:spPr>
          <a:xfrm>
            <a:off x="1666875" y="3764756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https://sprott.physics.wisc.edu/pubs/210fig1.gif</a:t>
            </a:r>
            <a:endParaRPr/>
          </a:p>
        </p:txBody>
      </p:sp>
      <p:sp>
        <p:nvSpPr>
          <p:cNvPr id="562" name="Google Shape;562;p48"/>
          <p:cNvSpPr txBox="1"/>
          <p:nvPr/>
        </p:nvSpPr>
        <p:spPr>
          <a:xfrm>
            <a:off x="1666875" y="3998118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Montserrat"/>
                <a:ea typeface="Montserrat"/>
                <a:cs typeface="Montserrat"/>
                <a:sym typeface="Montserrat"/>
              </a:rPr>
              <a:t>sprott.physics.wisc.edu</a:t>
            </a:r>
            <a:endParaRPr/>
          </a:p>
        </p:txBody>
      </p:sp>
      <p:pic>
        <p:nvPicPr>
          <p:cNvPr descr="image.png" id="563" name="Google Shape;563;p4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571500" y="4529137"/>
            <a:ext cx="1514475" cy="942975"/>
          </a:xfrm>
          <a:prstGeom prst="rect">
            <a:avLst/>
          </a:prstGeom>
          <a:noFill/>
          <a:ln>
            <a:noFill/>
          </a:ln>
        </p:spPr>
      </p:pic>
      <p:sp>
        <p:nvSpPr>
          <p:cNvPr id="564" name="Google Shape;564;p48"/>
          <p:cNvSpPr txBox="1"/>
          <p:nvPr/>
        </p:nvSpPr>
        <p:spPr>
          <a:xfrm>
            <a:off x="1666875" y="4536281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https://hackaday.com/wp-content/uploads/2018/06/fractal.png</a:t>
            </a:r>
            <a:endParaRPr/>
          </a:p>
        </p:txBody>
      </p:sp>
      <p:sp>
        <p:nvSpPr>
          <p:cNvPr id="565" name="Google Shape;565;p48"/>
          <p:cNvSpPr txBox="1"/>
          <p:nvPr/>
        </p:nvSpPr>
        <p:spPr>
          <a:xfrm>
            <a:off x="1666875" y="4769643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Montserrat"/>
                <a:ea typeface="Montserrat"/>
                <a:cs typeface="Montserrat"/>
                <a:sym typeface="Montserrat"/>
              </a:rPr>
              <a:t>hackaday.com</a:t>
            </a:r>
            <a:endParaRPr/>
          </a:p>
        </p:txBody>
      </p:sp>
      <p:pic>
        <p:nvPicPr>
          <p:cNvPr descr="image.png" id="566" name="Google Shape;566;p48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71500" y="5300662"/>
            <a:ext cx="2257425" cy="628650"/>
          </a:xfrm>
          <a:prstGeom prst="rect">
            <a:avLst/>
          </a:prstGeom>
          <a:noFill/>
          <a:ln>
            <a:noFill/>
          </a:ln>
        </p:spPr>
      </p:pic>
      <p:sp>
        <p:nvSpPr>
          <p:cNvPr id="567" name="Google Shape;567;p48"/>
          <p:cNvSpPr txBox="1"/>
          <p:nvPr/>
        </p:nvSpPr>
        <p:spPr>
          <a:xfrm>
            <a:off x="1666875" y="5307806"/>
            <a:ext cx="9953625" cy="1857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4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https://devforum-uploads.s3.dualstack.us-east-2.amazonaws.com/uploads/original/4X/b/2/1/b21b451be99bf80829412349e3b99ee8fcbe8082.jpeg</a:t>
            </a:r>
            <a:endParaRPr/>
          </a:p>
        </p:txBody>
      </p:sp>
      <p:sp>
        <p:nvSpPr>
          <p:cNvPr id="568" name="Google Shape;568;p48"/>
          <p:cNvSpPr txBox="1"/>
          <p:nvPr/>
        </p:nvSpPr>
        <p:spPr>
          <a:xfrm>
            <a:off x="1666875" y="5541168"/>
            <a:ext cx="9953625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8892B0"/>
                </a:solidFill>
                <a:latin typeface="Montserrat"/>
                <a:ea typeface="Montserrat"/>
                <a:cs typeface="Montserrat"/>
                <a:sym typeface="Montserrat"/>
              </a:rPr>
              <a:t>Source: </a:t>
            </a:r>
            <a:r>
              <a:rPr b="0" i="0" lang="en-US" sz="1200" u="none" cap="none" strike="noStrike">
                <a:solidFill>
                  <a:srgbClr val="4F46E5"/>
                </a:solidFill>
                <a:latin typeface="Montserrat"/>
                <a:ea typeface="Montserrat"/>
                <a:cs typeface="Montserrat"/>
                <a:sym typeface="Montserrat"/>
              </a:rPr>
              <a:t>devforum.roblox.com</a:t>
            </a:r>
            <a:endParaRPr/>
          </a:p>
        </p:txBody>
      </p:sp>
      <p:sp>
        <p:nvSpPr>
          <p:cNvPr id="569" name="Google Shape;569;p48"/>
          <p:cNvSpPr txBox="1"/>
          <p:nvPr/>
        </p:nvSpPr>
        <p:spPr>
          <a:xfrm>
            <a:off x="809625" y="571500"/>
            <a:ext cx="11351418" cy="53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150" u="none" cap="none" strike="noStrike">
                <a:solidFill>
                  <a:srgbClr val="E6F1FF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IMAGE SOURCES</a:t>
            </a:r>
            <a:endParaRPr/>
          </a:p>
        </p:txBody>
      </p:sp>
      <p:sp>
        <p:nvSpPr>
          <p:cNvPr id="570" name="Google Shape;570;p48"/>
          <p:cNvSpPr/>
          <p:nvPr/>
        </p:nvSpPr>
        <p:spPr>
          <a:xfrm>
            <a:off x="571500" y="571500"/>
            <a:ext cx="57150" cy="533400"/>
          </a:xfrm>
          <a:prstGeom prst="rect">
            <a:avLst/>
          </a:prstGeom>
          <a:solidFill>
            <a:srgbClr val="64FFD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